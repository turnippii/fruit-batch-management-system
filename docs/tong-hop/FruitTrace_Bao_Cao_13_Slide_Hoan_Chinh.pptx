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18eefe590d4c0e" /><Relationship Type="http://schemas.openxmlformats.org/officeDocument/2006/relationships/extended-properties" Target="/docProps/app.xml" Id="Rcfbce45cde02487a" /><Relationship Type="http://schemas.openxmlformats.org/officeDocument/2006/relationships/officeDocument" Target="/ppt/presentation.xml" Id="R86969f5152fd4b64" /></Relationships>
</file>

<file path=ppt/presentation.xml><?xml version="1.0" encoding="utf-8"?>
<p:presentation xmlns:p="http://schemas.openxmlformats.org/presentationml/2006/main">
  <p:sldMasterIdLst>
    <p:sldMasterId xmlns:r="http://schemas.openxmlformats.org/officeDocument/2006/relationships" id="2147483648" r:id="R4466ef6dd4f34848"/>
  </p:sldMasterIdLst>
  <p:notesMasterIdLst>
    <p:notesMasterId xmlns:r="http://schemas.openxmlformats.org/officeDocument/2006/relationships" r:id="Rced95c66789a4e60"/>
  </p:notesMasterIdLst>
  <p:sldIdLst>
    <p:sldId xmlns:r="http://schemas.openxmlformats.org/officeDocument/2006/relationships" id="256" r:id="R7be9aba6492c4052"/>
    <p:sldId xmlns:r="http://schemas.openxmlformats.org/officeDocument/2006/relationships" id="257" r:id="R19cac84e312144cd"/>
    <p:sldId xmlns:r="http://schemas.openxmlformats.org/officeDocument/2006/relationships" id="258" r:id="R6033be36a7344a27"/>
    <p:sldId xmlns:r="http://schemas.openxmlformats.org/officeDocument/2006/relationships" id="259" r:id="R0343a1cf80fa48bc"/>
    <p:sldId xmlns:r="http://schemas.openxmlformats.org/officeDocument/2006/relationships" id="260" r:id="Rc1ad08ac8f674bdf"/>
    <p:sldId xmlns:r="http://schemas.openxmlformats.org/officeDocument/2006/relationships" id="261" r:id="R672f79b5a647495d"/>
    <p:sldId xmlns:r="http://schemas.openxmlformats.org/officeDocument/2006/relationships" id="262" r:id="R850947a7c1ec46df"/>
    <p:sldId xmlns:r="http://schemas.openxmlformats.org/officeDocument/2006/relationships" id="263" r:id="R6cbcae048ae84ebd"/>
    <p:sldId xmlns:r="http://schemas.openxmlformats.org/officeDocument/2006/relationships" id="264" r:id="Re0d629aaa8614bb2"/>
    <p:sldId xmlns:r="http://schemas.openxmlformats.org/officeDocument/2006/relationships" id="265" r:id="R8c2d161208204e17"/>
    <p:sldId xmlns:r="http://schemas.openxmlformats.org/officeDocument/2006/relationships" id="266" r:id="R4bd27883ee544ead"/>
    <p:sldId xmlns:r="http://schemas.openxmlformats.org/officeDocument/2006/relationships" id="267" r:id="Rc8615647627e4ada"/>
    <p:sldId xmlns:r="http://schemas.openxmlformats.org/officeDocument/2006/relationships" id="268" r:id="Rbf23f0ec25bc43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b90e0cc48f4177" /><Relationship Type="http://schemas.openxmlformats.org/officeDocument/2006/relationships/slideMaster" Target="/ppt/slideMasters/slideMaster1.xml" Id="R4466ef6dd4f34848" /><Relationship Type="http://schemas.openxmlformats.org/officeDocument/2006/relationships/notesMaster" Target="/ppt/notesMasters/notesMaster1.xml" Id="Rced95c66789a4e60" /><Relationship Type="http://schemas.openxmlformats.org/officeDocument/2006/relationships/presProps" Target="/ppt/presProps.xml" Id="R9c7179e212f74b7e" /><Relationship Type="http://schemas.openxmlformats.org/officeDocument/2006/relationships/tableStyles" Target="/ppt/tableStyles.xml" Id="Rf86042973d7c4710" /><Relationship Type="http://schemas.openxmlformats.org/officeDocument/2006/relationships/slide" Target="/ppt/slides/slide1.xml" Id="R7be9aba6492c4052" /><Relationship Type="http://schemas.openxmlformats.org/officeDocument/2006/relationships/slide" Target="/ppt/slides/slide2.xml" Id="R19cac84e312144cd" /><Relationship Type="http://schemas.openxmlformats.org/officeDocument/2006/relationships/slide" Target="/ppt/slides/slide3.xml" Id="R6033be36a7344a27" /><Relationship Type="http://schemas.openxmlformats.org/officeDocument/2006/relationships/slide" Target="/ppt/slides/slide4.xml" Id="R0343a1cf80fa48bc" /><Relationship Type="http://schemas.openxmlformats.org/officeDocument/2006/relationships/slide" Target="/ppt/slides/slide5.xml" Id="Rc1ad08ac8f674bdf" /><Relationship Type="http://schemas.openxmlformats.org/officeDocument/2006/relationships/slide" Target="/ppt/slides/slide6.xml" Id="R672f79b5a647495d" /><Relationship Type="http://schemas.openxmlformats.org/officeDocument/2006/relationships/slide" Target="/ppt/slides/slide7.xml" Id="R850947a7c1ec46df" /><Relationship Type="http://schemas.openxmlformats.org/officeDocument/2006/relationships/slide" Target="/ppt/slides/slide8.xml" Id="R6cbcae048ae84ebd" /><Relationship Type="http://schemas.openxmlformats.org/officeDocument/2006/relationships/slide" Target="/ppt/slides/slide9.xml" Id="Re0d629aaa8614bb2" /><Relationship Type="http://schemas.openxmlformats.org/officeDocument/2006/relationships/slide" Target="/ppt/slides/slide10.xml" Id="R8c2d161208204e17" /><Relationship Type="http://schemas.openxmlformats.org/officeDocument/2006/relationships/slide" Target="/ppt/slides/slide11.xml" Id="R4bd27883ee544ead" /><Relationship Type="http://schemas.openxmlformats.org/officeDocument/2006/relationships/slide" Target="/ppt/slides/slide12.xml" Id="Rc8615647627e4ada" /><Relationship Type="http://schemas.openxmlformats.org/officeDocument/2006/relationships/slide" Target="/ppt/slides/slide13.xml" Id="Rbf23f0ec25bc43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69dde0156343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8511fdcf243a3" /><Relationship Type="http://schemas.openxmlformats.org/officeDocument/2006/relationships/notesMaster" Target="/ppt/notesMasters/notesMaster1.xml" Id="R97aac48593cf44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dfb6e19b2742f6" /><Relationship Type="http://schemas.openxmlformats.org/officeDocument/2006/relationships/notesMaster" Target="/ppt/notesMasters/notesMaster1.xml" Id="R5ecd203b84fa41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e44348a6f64d1b" /><Relationship Type="http://schemas.openxmlformats.org/officeDocument/2006/relationships/notesMaster" Target="/ppt/notesMasters/notesMaster1.xml" Id="R729a646567ca40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88ab5fb530440c" /><Relationship Type="http://schemas.openxmlformats.org/officeDocument/2006/relationships/notesMaster" Target="/ppt/notesMasters/notesMaster1.xml" Id="R377c3b88b5904b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3f6987dad24985" /><Relationship Type="http://schemas.openxmlformats.org/officeDocument/2006/relationships/notesMaster" Target="/ppt/notesMasters/notesMaster1.xml" Id="R98cd00a6699942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1d68917aa5451b" /><Relationship Type="http://schemas.openxmlformats.org/officeDocument/2006/relationships/notesMaster" Target="/ppt/notesMasters/notesMaster1.xml" Id="Radc805f5f6ee41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d5f918e3ce465a" /><Relationship Type="http://schemas.openxmlformats.org/officeDocument/2006/relationships/notesMaster" Target="/ppt/notesMasters/notesMaster1.xml" Id="R690560e9862849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8545f89add4fcb" /><Relationship Type="http://schemas.openxmlformats.org/officeDocument/2006/relationships/notesMaster" Target="/ppt/notesMasters/notesMaster1.xml" Id="R707ac11e395c48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1b6dcca2fe47c9" /><Relationship Type="http://schemas.openxmlformats.org/officeDocument/2006/relationships/notesMaster" Target="/ppt/notesMasters/notesMaster1.xml" Id="R0a861995fc8b40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b9a2569512464a" /><Relationship Type="http://schemas.openxmlformats.org/officeDocument/2006/relationships/notesMaster" Target="/ppt/notesMasters/notesMaster1.xml" Id="Reca7e7b048d943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5a9f2d20ac4926" /><Relationship Type="http://schemas.openxmlformats.org/officeDocument/2006/relationships/notesMaster" Target="/ppt/notesMasters/notesMaster1.xml" Id="R33a83dcecf924a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92c30462aa476b" /><Relationship Type="http://schemas.openxmlformats.org/officeDocument/2006/relationships/notesMaster" Target="/ppt/notesMasters/notesMaster1.xml" Id="R7f5f7b12865c48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8be7546a92488a" /><Relationship Type="http://schemas.openxmlformats.org/officeDocument/2006/relationships/notesMaster" Target="/ppt/notesMasters/notesMaster1.xml" Id="Rfd63bceac5be4c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tên đề tài và môn học. FruitTrace kết hợp ứng dụng di động, AI trên điện thoại và IoT để quản lý theo lô. Trình bày khoảng 20 giây.</a:t>
            </a:r>
          </a:p>
          <a:p xmlns:a="http://schemas.openxmlformats.org/drawingml/2006/main">
            <a:r>
              <a:t/>
            </a:r>
          </a:p>
          <a:p xmlns:a="http://schemas.openxmlformats.org/drawingml/2006/main">
            <a:r>
              <a:t>Nguồn: FruitTrace_UDDD.pdf, bìa và mục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đủ năm thành viên và phân công đã thống nhất. Khánh trình bày Firebase, tính vòng đời và kiểm thử. Liêm phụ trách chủ vườn, Nhật phụ trách đại lý, Vương phụ trách IoT, Minh phụ trách AI. Phân công này không khẳng định tác giả từng commit.</a:t>
            </a:r>
          </a:p>
          <a:p xmlns:a="http://schemas.openxmlformats.org/drawingml/2006/main">
            <a:r>
              <a:t/>
            </a:r>
          </a:p>
          <a:p xmlns:a="http://schemas.openxmlformats.org/drawingml/2006/main">
            <a:r>
              <a:t>Nguồn: Phan_Cong_Nhiem_Vu_FruitTrace.docx, phiên bản sau hai lần đổi nhiệm vụ trong cuộc trò chuyện.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vấn đề dữ liệu hạn dùng tĩnh và nhu cầu theo dõi điều kiện thực tế. Hệ thống hướng đến nông hộ và đại lý nhỏ. Phạm vi năm loại quả, hai vai trò. Tránh khẳng định đã chứng minh giảm thất thoát bằng số liệu vì báo cáo chưa đo tác động kinh tế.</a:t>
            </a:r>
          </a:p>
          <a:p xmlns:a="http://schemas.openxmlformats.org/drawingml/2006/main">
            <a:r>
              <a:t/>
            </a:r>
          </a:p>
          <a:p xmlns:a="http://schemas.openxmlformats.org/drawingml/2006/main">
            <a:r>
              <a:t>Nguồn: FruitTrace_UDDD.pdf, mục 1.1–1.3, trang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có ba thành phần: app, Firebase và trạm IoT. App và trạm không giao tiếp trực tiếp. App dùng SDK và lắng nghe thay đổi, ESP32 sử dụng REST. AI chạy trên điện thoại. Cơ sở dữ liệu nối quy trình nghiệp vụ với dữ liệu môi trường.</a:t>
            </a:r>
          </a:p>
          <a:p xmlns:a="http://schemas.openxmlformats.org/drawingml/2006/main">
            <a:r>
              <a:t/>
            </a:r>
          </a:p>
          <a:p xmlns:a="http://schemas.openxmlformats.org/drawingml/2006/main">
            <a:r>
              <a:t>Nguồn: FruitTrace_UDDD.pdf, mục 3.3, trang 35–38, Hình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lần lượt bốn giai đoạn. canTransition kiểm tra bước liền kề và vai trò. Nhật ký ghi sự kiện xuất, nhận và bán. QR là mã định danh nên dữ liệu biến động nằm trên Firebase. Mã định danh không tự ngăn sao chép tem. discarded tồn tại trong kiểu dữ liệu nhưng chưa có luật chuyển trong canTransition.</a:t>
            </a:r>
          </a:p>
          <a:p xmlns:a="http://schemas.openxmlformats.org/drawingml/2006/main">
            <a:r>
              <a:t/>
            </a:r>
          </a:p>
          <a:p xmlns:a="http://schemas.openxmlformats.org/drawingml/2006/main">
            <a:r>
              <a:t>Nguồn: FruitTrace_UDDD.pdf, mục 3.4.2, trang 38–41; src/lib/lotStatus.ts; src/lib/lotCode.ts; app/(retailer)/scan.tsx. Ảnh QR trích Hình 3.12 trong báo cáo.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Liêm và Nhật trình bày các nhóm màn hình. Giải thích Expo Router, TypeScript và cấu trúc màn hình/hook/service. Hook quản lý dữ liệu cùng listener, service gọi Firebase. Thư viện nghiệp vụ thuần dễ kiểm thử. Các ảnh là giao diện chủ vườn được chụp trong báo cáo, không dùng để chứng minh đã chạy trên mọi thiết bị.</a:t>
            </a:r>
          </a:p>
          <a:p xmlns:a="http://schemas.openxmlformats.org/drawingml/2006/main">
            <a:r>
              <a:t/>
            </a:r>
          </a:p>
          <a:p xmlns:a="http://schemas.openxmlformats.org/drawingml/2006/main">
            <a:r>
              <a:t>Nguồn: FruitTrace_UDDD.pdf, mục 3.8, trang 49–53 và 4.1.4; src/hooks; src/services. Ảnh cắt từ Hình 3.12, trang báo cáo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Khánh trình bày năm nhánh dữ liệu. Phân biệt Authentication và Security Rules. lotsService query theo growerId/currentHolderId. Các hook hủy listener khi UID thay đổi. updateLot chuẩn hóa undefined thành null. Rules hiện còn rộng ở quyền ghi lots và chưa bảo vệ đầy đủ chuyển trạng thái, vì vậy chưa khẳng định bảo mật tuyệt đối.</a:t>
            </a:r>
          </a:p>
          <a:p xmlns:a="http://schemas.openxmlformats.org/drawingml/2006/main">
            <a:r>
              <a:t/>
            </a:r>
          </a:p>
          <a:p xmlns:a="http://schemas.openxmlformats.org/drawingml/2006/main">
            <a:r>
              <a:t>Nguồn: FruitTrace_UDDD.pdf, mục 2.5.3, 3.4.1, 3.8.1, 3.10; src/services/firebase.ts; src/services/auth.ts; src/services/lots.ts; database.rules.json.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trình bày dữ liệu 11.309 ảnh, năm nhóm quả và mười lớp. Độ chín được nhận diện với chuối và xoài. Tập test 1.700 ảnh; Float32 95,71%, INT8 95,94%. Chênh lệch nhỏ không chứng minh lượng tử làm mô hình tốt hơn. Ngưỡng tin cậy 0,70 cho nhập thủ công khi thấp. Thử đầu sáu ảnh chụp thực tế thiếu sáng đúng 0/6, cỡ mẫu nhỏ. Độ chính xác test không phải độ chính xác ngoài vườn. Dung lượng MB theo báo cáo, không suy ra dung lượng APK.</a:t>
            </a:r>
          </a:p>
          <a:p xmlns:a="http://schemas.openxmlformats.org/drawingml/2006/main">
            <a:r>
              <a:t/>
            </a:r>
          </a:p>
          <a:p xmlns:a="http://schemas.openxmlformats.org/drawingml/2006/main">
            <a:r>
              <a:t>Nguồn: FruitTrace_UDDD.pdf, mục 3.9 và 4.2.2, trang 53–54 và 60–63, Bảng 4.3–4.4.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Khánh giải thích T0 là hạn cơ sở, f là hệ số độ chín, D0 là initialShelfDays. Q10 đang bằng 2. Tăng 10°C làm tốc độ tiêu hao tăng đôi. Chia 24 đổi giờ sang ngày, chia D0 để có tỷ lệ không đơn vị. c mới = c cũ + Δc. Với D0=6, T=35, Δt=24 thì Δc=1/3. Khi dự báo thời gian thực tế tương lai ở nhiệt độ cố định cần lấy ngày quy đổi chia k(T). Vườn và vận chuyển dùng nhiệt độ giả định, kho dùng cảm biến. Hệ số chưa hiệu chuẩn đủ.</a:t>
            </a:r>
          </a:p>
          <a:p xmlns:a="http://schemas.openxmlformats.org/drawingml/2006/main">
            <a:r>
              <a:t/>
            </a:r>
          </a:p>
          <a:p xmlns:a="http://schemas.openxmlformats.org/drawingml/2006/main">
            <a:r>
              <a:t>Nguồn: FruitTrace_UDDD.pdf, mục 3.5, trang 40–44; src/lib/shelfLife.ts; app/lot-form.tsx.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Vương trình bày phần cứng theo ảnh báo cáo. GPIO DHT22=14, LED đỏ=25, xanh=26, vàng=32, buzzer=27. Bộ đệm trung bình trượt 30 mẫu. PATCH dữ liệu trạm và tỷ lệ/mốc thời gian lô. Còi kêu ba tiếng khi chuyển sang đỏ. Ngưỡng theo code app: còn trên 50% xanh, trên 20% đến 50% vàng, từ 20% trở xuống đỏ. Cơ chế tự bù sau mất điện mới thiết kế, chưa kiểm thử đầy đủ; không có firmware trong ZIP để xác minh trực tiếp.</a:t>
            </a:r>
          </a:p>
          <a:p xmlns:a="http://schemas.openxmlformats.org/drawingml/2006/main">
            <a:r>
              <a:t/>
            </a:r>
          </a:p>
          <a:p xmlns:a="http://schemas.openxmlformats.org/drawingml/2006/main">
            <a:r>
              <a:t>Nguồn: FruitTrace_UDDD.pdf, mục 3.6–3.7, trang 44–48; mục 4.1.3, trang 59. Ảnh Hình 4.2 từ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Khánh trình bày sáu bộ test, số ca 33+11+9+8+7+5=73, tính cả it.each. Báo cáo ghi 73/73 đạt khoảng 13,5 giây; nguồn ZIP đã đọc xác nhận khai báo, chưa chạy lại trong phiên này. Các ca quan trọng: màu tại biên 20/50%, chặn nhảy trạng thái, đã bán không cộng drift, chuẩn hóa QR. Test chủ yếu logic src/lib, không thay thế test Rules, mất điện hoặc độ chính xác mô hình bảo quản. Luồng đăng nhập, nhận lô, xuất và bán được kiểm thử thủ công theo Bảng 4.7.</a:t>
            </a:r>
          </a:p>
          <a:p xmlns:a="http://schemas.openxmlformats.org/drawingml/2006/main">
            <a:r>
              <a:t/>
            </a:r>
          </a:p>
          <a:p xmlns:a="http://schemas.openxmlformats.org/drawingml/2006/main">
            <a:r>
              <a:t>Nguồn: FruitTrace_UDDD.pdf, mục 4.2.4–4.2.5, trang 65–66; src/lib/*.test.ts.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tính khả thi nguyên mẫu. Không khẳng định hạn sử dụng là cam kết an toàn thực phẩm. AI có domain gap. Dữ liệu môi trường trước kho là giả định. Quyền thiết bị cần xác thực riêng, Rules lô cần kiểm tra chuyển trạng thái và lịch sử, transaction cho hai đại lý cùng nhận. Mở rộng thêm cảm biến từng vùng, theo dõi vận chuyển, thông báo đẩy và iOS là hướng phát triển.</a:t>
            </a:r>
          </a:p>
          <a:p xmlns:a="http://schemas.openxmlformats.org/drawingml/2006/main">
            <a:r>
              <a:t/>
            </a:r>
          </a:p>
          <a:p xmlns:a="http://schemas.openxmlformats.org/drawingml/2006/main">
            <a:r>
              <a:t>Nguồn: FruitTrace_UDDD.pdf, Chương 5, trang 67–70; database.rules.json; app/(retailer)/scan.tsx; src/lib/shelfLife.ts.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Cảm ơn thầy và các bạn. Mời nhận câu hỏi về hệ thống, phần app, AI, IoT, Firebase và công thức.</a:t>
            </a:r>
          </a:p>
          <a:p xmlns:a="http://schemas.openxmlformats.org/drawingml/2006/main">
            <a:r>
              <a:t/>
            </a:r>
          </a:p>
          <a:p xmlns:a="http://schemas.openxmlformats.org/drawingml/2006/main">
            <a:r>
              <a:t>Nguồn: Thông tin nhóm theo báo cáo và phân công trong cuộc trò chuyện.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35296e4f774d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ba695109e042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81e904082d41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2779d4f92445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add4e4cf4446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2795c8a7e645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0705F-85D9-4108-A601-00F98E5707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9829B1-B84D-476A-B959-1471A40598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C6E7D4-BD9A-44EB-BADE-561C101991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9D6146-CDD7-4D7F-A34C-BBEFE82EB6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3D62E8-9FAB-4198-89AD-C501ACEF1B1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E27945-2DF5-4136-9B05-8399C38FA7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5E5053-EC2D-44E9-BB63-F997313DB8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287566-D786-45F3-B5C7-8A0C08FD95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DFB9F-54AA-416C-A6CE-DFCAD5541A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CBD4A5-2B64-497A-89A7-3A9F56C7FF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bfe6aca17f4bc7" /><Relationship Type="http://schemas.openxmlformats.org/officeDocument/2006/relationships/slideLayout" Target="/ppt/slideLayouts/slideLayout1.xml" Id="R473169ba657b4946" /><Relationship Type="http://schemas.openxmlformats.org/officeDocument/2006/relationships/slideLayout" Target="/ppt/slideLayouts/slideLayout2.xml" Id="R0cc3364067984e69" /><Relationship Type="http://schemas.openxmlformats.org/officeDocument/2006/relationships/slideLayout" Target="/ppt/slideLayouts/slideLayout3.xml" Id="R187acbcf070b493b" /><Relationship Type="http://schemas.openxmlformats.org/officeDocument/2006/relationships/slideLayout" Target="/ppt/slideLayouts/slideLayout4.xml" Id="Re668b533c1014785" /><Relationship Type="http://schemas.openxmlformats.org/officeDocument/2006/relationships/slideLayout" Target="/ppt/slideLayouts/slideLayout5.xml" Id="Rf0c6fce8e5c64068" /><Relationship Type="http://schemas.openxmlformats.org/officeDocument/2006/relationships/slideLayout" Target="/ppt/slideLayouts/slideLayout6.xml" Id="R4c70acea963544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3169ba657b4946"/>
    <p:sldLayoutId xmlns:r="http://schemas.openxmlformats.org/officeDocument/2006/relationships" id="2147483650" r:id="R0cc3364067984e69"/>
    <p:sldLayoutId xmlns:r="http://schemas.openxmlformats.org/officeDocument/2006/relationships" id="2147483651" r:id="R187acbcf070b493b"/>
    <p:sldLayoutId xmlns:r="http://schemas.openxmlformats.org/officeDocument/2006/relationships" id="2147483652" r:id="Re668b533c1014785"/>
    <p:sldLayoutId xmlns:r="http://schemas.openxmlformats.org/officeDocument/2006/relationships" id="2147483653" r:id="Rf0c6fce8e5c64068"/>
    <p:sldLayoutId xmlns:r="http://schemas.openxmlformats.org/officeDocument/2006/relationships" id="2147483654" r:id="R4c70acea963544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e48bc22d764525" /><Relationship Type="http://schemas.openxmlformats.org/officeDocument/2006/relationships/image" Target="/ppt/media/image.png" Id="R58213c4d2e70403a" /><Relationship Type="http://schemas.openxmlformats.org/officeDocument/2006/relationships/image" Target="/ppt/media/image2.png" Id="R954467acb1c94b12" /><Relationship Type="http://schemas.openxmlformats.org/officeDocument/2006/relationships/notesSlide" Target="/ppt/notesSlides/notesSlide1.xml" Id="Rbefa83d0b3904c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38b5162b004cc9" /><Relationship Type="http://schemas.openxmlformats.org/officeDocument/2006/relationships/image" Target="/ppt/media/image3.png" Id="Rec7e5822af714638" /><Relationship Type="http://schemas.openxmlformats.org/officeDocument/2006/relationships/notesSlide" Target="/ppt/notesSlides/notesSlide2.xml" Id="R477207d1153444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cb5495f28e4cdf" /><Relationship Type="http://schemas.openxmlformats.org/officeDocument/2006/relationships/image" Target="/ppt/media/image4.png" Id="R065347e49c074855" /><Relationship Type="http://schemas.openxmlformats.org/officeDocument/2006/relationships/notesSlide" Target="/ppt/notesSlides/notesSlide3.xml" Id="R9c579fa4a298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061e5a22704d43" /><Relationship Type="http://schemas.openxmlformats.org/officeDocument/2006/relationships/image" Target="/ppt/media/image5.png" Id="R532e4732a9bd4f3d" /><Relationship Type="http://schemas.openxmlformats.org/officeDocument/2006/relationships/image" Target="/ppt/media/image6.png" Id="Re5530875f5324075" /><Relationship Type="http://schemas.openxmlformats.org/officeDocument/2006/relationships/notesSlide" Target="/ppt/notesSlides/notesSlide4.xml" Id="R782cf7a30d834a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e42c1606664222" /><Relationship Type="http://schemas.openxmlformats.org/officeDocument/2006/relationships/image" Target="/ppt/media/image7.png" Id="Ref50e2c10a104d55" /><Relationship Type="http://schemas.openxmlformats.org/officeDocument/2006/relationships/image" Target="/ppt/media/image8.png" Id="Rbb6563d07d584867" /><Relationship Type="http://schemas.openxmlformats.org/officeDocument/2006/relationships/notesSlide" Target="/ppt/notesSlides/notesSlide5.xml" Id="Rc97daabeeff142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a6c7622c734f00" /><Relationship Type="http://schemas.openxmlformats.org/officeDocument/2006/relationships/image" Target="/ppt/media/image9.png" Id="Rc518e3b4f0db4782" /><Relationship Type="http://schemas.openxmlformats.org/officeDocument/2006/relationships/image" Target="/ppt/media/image10.png" Id="R95414dda41994159" /><Relationship Type="http://schemas.openxmlformats.org/officeDocument/2006/relationships/image" Target="/ppt/media/image11.png" Id="R577a20d1e0334164" /><Relationship Type="http://schemas.openxmlformats.org/officeDocument/2006/relationships/image" Target="/ppt/media/image12.png" Id="R81859f55cc224f5d" /><Relationship Type="http://schemas.openxmlformats.org/officeDocument/2006/relationships/notesSlide" Target="/ppt/notesSlides/notesSlide6.xml" Id="R6c71b3badb8b45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392c5fcdfc4fb8" /><Relationship Type="http://schemas.openxmlformats.org/officeDocument/2006/relationships/image" Target="/ppt/media/image13.png" Id="Rfc01faad0a0b495b" /><Relationship Type="http://schemas.openxmlformats.org/officeDocument/2006/relationships/notesSlide" Target="/ppt/notesSlides/notesSlide7.xml" Id="Rb3b1dd7c940342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e56aac4759740ba" /><Relationship Type="http://schemas.openxmlformats.org/officeDocument/2006/relationships/chart" Target="/ppt/slides/charts/chart1.xml" Id="R57a58fb15dae4382" /><Relationship Type="http://schemas.openxmlformats.org/officeDocument/2006/relationships/image" Target="/ppt/media/image14.png" Id="R4274ab790e48464f" /><Relationship Type="http://schemas.openxmlformats.org/officeDocument/2006/relationships/notesSlide" Target="/ppt/notesSlides/notesSlide8.xml" Id="Rd297e83f2ef14f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0e24a2cc624e98" /><Relationship Type="http://schemas.openxmlformats.org/officeDocument/2006/relationships/image" Target="/ppt/media/image15.png" Id="R5484f1d54b4144a4" /><Relationship Type="http://schemas.openxmlformats.org/officeDocument/2006/relationships/notesSlide" Target="/ppt/notesSlides/notesSlide9.xml" Id="Re6b1caa301174d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14d79b0aac400a" /><Relationship Type="http://schemas.openxmlformats.org/officeDocument/2006/relationships/image" Target="/ppt/media/image16.png" Id="Rca58da8cca34498c" /><Relationship Type="http://schemas.openxmlformats.org/officeDocument/2006/relationships/image" Target="/ppt/media/image17.png" Id="R16e832b398684e49" /><Relationship Type="http://schemas.openxmlformats.org/officeDocument/2006/relationships/notesSlide" Target="/ppt/notesSlides/notesSlide10.xml" Id="R3fb2646be98c4b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59a2d33f284e6c" /><Relationship Type="http://schemas.openxmlformats.org/officeDocument/2006/relationships/image" Target="/ppt/media/image18.png" Id="R6e773c51557547a7" /><Relationship Type="http://schemas.openxmlformats.org/officeDocument/2006/relationships/notesSlide" Target="/ppt/notesSlides/notesSlide11.xml" Id="Raa64758f119643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5c43b9319945c9" /><Relationship Type="http://schemas.openxmlformats.org/officeDocument/2006/relationships/image" Target="/ppt/media/image19.png" Id="Ra3d584f017604920" /><Relationship Type="http://schemas.openxmlformats.org/officeDocument/2006/relationships/notesSlide" Target="/ppt/notesSlides/notesSlide12.xml" Id="R96c93f8823c14f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7d78589eae24d8c" /><Relationship Type="http://schemas.openxmlformats.org/officeDocument/2006/relationships/image" Target="/ppt/media/image20.png" Id="R74c0e7fd2dd1498f" /><Relationship Type="http://schemas.openxmlformats.org/officeDocument/2006/relationships/notesSlide" Target="/ppt/notesSlides/notesSlide13.xml" Id="Rf20d370350f644a6" /></Relationships>
</file>

<file path=ppt/slides/charts/_rels/chart1.xml.rels><?xml version='1.0' encoding='UTF-8' standalone='yes'?>
<Relationships xmlns="http://schemas.openxmlformats.org/package/2006/relationships"><Relationship Id="rIdPreservedWorkbook" Type="http://schemas.openxmlformats.org/officeDocument/2006/relationships/package" Target="../../embeddings/chart-data-snapshot-001.xlsx"/></Relationships>
</file>

<file path=ppt/slides/charts/chart1.xml><?xml version="1.0" encoding="utf-8"?>
<c:chartSpace xmlns:c="http://schemas.openxmlformats.org/drawingml/2006/chart">
  <c:lang val="en-US"/>
  <c:chart>
    <c:plotArea>
      <c:barChart>
        <c:barDir val="bar"/>
        <c:grouping val="clustered"/>
        <c:varyColors val="0"/>
        <c:ser>
          <c:idx val="0"/>
          <c:order val="0"/>
          <c:tx>
            <c:v>Dung lượng MB</c:v>
          </c:tx>
          <c:spPr>
            <a:solidFill xmlns:a="http://schemas.openxmlformats.org/drawingml/2006/main">
              <a:srgbClr val="17583E"/>
            </a:solidFill>
          </c:spPr>
          <c:cat>
            <c:strRef>
              <c:f>'Chart Data'!$A$2:$A$3</c:f>
              <c:strCache>
                <c:ptCount val="2"/>
                <c:pt idx="0">
                  <c:v>Float32</c:v>
                </c:pt>
                <c:pt idx="1">
                  <c:v>INT8</c:v>
                </c:pt>
              </c:strCache>
            </c:strRef>
          </c:cat>
          <c:val>
            <c:numRef>
              <c:f>'Chart Data'!$B$2:$B$3</c:f>
              <c:numCache>
                <c:formatCode>0.00</c:formatCode>
                <c:ptCount val="2"/>
                <c:pt idx="0">
                  <c:v>8.92</c:v>
                </c:pt>
                <c:pt idx="1">
                  <c:v>2.72</c:v>
                </c:pt>
              </c:numCache>
            </c:numRef>
          </c:val>
        </c:ser>
        <c:dLbls>
          <c:numFmt formatCode="0.00&quot; MB&quot;" sourceLinked="0"/>
          <c:txPr>
            <a:bodyPr xmlns:a="http://schemas.openxmlformats.org/drawingml/2006/main" anchorCtr="1"/>
            <a:lstStyle xmlns:a="http://schemas.openxmlformats.org/drawingml/2006/main"/>
            <a:p xmlns:a="http://schemas.openxmlformats.org/drawingml/2006/main">
              <a:pPr>
                <a:defRPr sz="1710" b="1">
                  <a:solidFill>
                    <a:srgbClr val="173729"/>
                  </a:solidFill>
                  <a:latin typeface="DejaVu Sans"/>
                  <a:ea typeface="DejaVu Sans"/>
                  <a:cs typeface="DejaVu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CE5D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2746A"/>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81">
                <a:solidFill>
                  <a:srgbClr val="173729"/>
                </a:solidFill>
                <a:latin typeface="DejaVu Sans"/>
                <a:ea typeface="DejaVu Sans"/>
                <a:cs typeface="DejaVu Sans"/>
              </a:defRPr>
            </a:pPr>
          </a:p>
        </c:txPr>
        <c:crossAx val="48650112"/>
        <c:crossBetween val="between"/>
      </c:valAx>
      <c:spPr>
        <a:solidFill xmlns:a="http://schemas.openxmlformats.org/drawingml/2006/main">
          <a:srgbClr val="F3F9FF"/>
        </a:solidFill>
      </c:spPr>
    </c:plotArea>
    <c:plotVisOnly val="1"/>
  </c:chart>
  <c:spPr>
    <a:solidFill xmlns:a="http://schemas.openxmlformats.org/drawingml/2006/main">
      <a:srgbClr val="F3F9FF"/>
    </a:solidFill>
  </c:spPr>
  <c:externalData xmlns:r="http://schemas.openxmlformats.org/officeDocument/2006/relationships" r:id="rIdPreservedWorkbook">
    <c:autoUpdate val="0"/>
  </c:externalData>
</c:chartSpace>
</file>

<file path=ppt/slides/slide1.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E0D40B93-AEAF-468F-A37D-382039E078AD}"/>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D8E9DD"/>
                </a:solidFill>
                <a:latin typeface="DejaVu Sans"/>
                <a:ea typeface="DejaVu Sans"/>
                <a:cs typeface="DejaVu Sans"/>
              </a:defRPr>
            </a:pPr>
            <a:r>
              <a:rPr sz="1200" b="0">
                <a:solidFill>
                  <a:srgbClr val="536C7B"/>
                </a:solidFill>
                <a:latin typeface="DejaVu Sans"/>
                <a:ea typeface="DejaVu Sans"/>
                <a:cs typeface="DejaVu Sans"/>
              </a:rPr>
              <a:t>1</a:t>
            </a:r>
          </a:p>
        </p:txBody>
      </p:sp>
      <p:sp>
        <p:nvSpPr>
          <p:cNvPr id="2" name="text-FRUITTRACE">
            <a:extLst xmlns:a="http://schemas.openxmlformats.org/drawingml/2006/main">
              <a:ext uri="{FF2B5EF4-FFF2-40B4-BE49-F238E27FC236}">
                <a16:creationId xmlns:a16="http://schemas.microsoft.com/office/drawing/2014/main" id="{F2CB7762-E17F-43DB-9FEC-F88C380DE42A}"/>
              </a:ext>
            </a:extLst>
          </p:cNvPr>
          <p:cNvSpPr>
            <a:spLocks xmlns:a="http://schemas.openxmlformats.org/drawingml/2006/main" noGrp="1"/>
          </p:cNvSpPr>
          <p:nvPr/>
        </p:nvSpPr>
        <p:spPr>
          <a:xfrm xmlns:a="http://schemas.openxmlformats.org/drawingml/2006/main">
            <a:off x="609600" y="2645569"/>
            <a:ext cx="6953250"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66" b="1">
                <a:solidFill>
                  <a:srgbClr val="173E58"/>
                </a:solidFill>
                <a:latin typeface="DejaVu Sans"/>
                <a:ea typeface="DejaVu Sans"/>
                <a:cs typeface="DejaVu Sans"/>
              </a:defRPr>
            </a:defPPr>
          </a:lstStyle>
          <a:p xmlns:a="http://schemas.openxmlformats.org/drawingml/2006/main">
            <a:pPr algn="l">
              <a:buNone/>
              <a:defRPr sz="6300" b="1">
                <a:solidFill>
                  <a:srgbClr val="FFFFFF"/>
                </a:solidFill>
                <a:latin typeface="DejaVu Sans"/>
                <a:ea typeface="DejaVu Sans"/>
                <a:cs typeface="DejaVu Sans"/>
              </a:defRPr>
            </a:pPr>
            <a:r>
              <a:rPr sz="5166" b="1">
                <a:solidFill>
                  <a:srgbClr val="173E58"/>
                </a:solidFill>
                <a:latin typeface="DejaVu Sans"/>
                <a:ea typeface="DejaVu Sans"/>
                <a:cs typeface="DejaVu Sans"/>
              </a:rPr>
              <a:t>FRUITTRACE</a:t>
            </a:r>
          </a:p>
        </p:txBody>
      </p:sp>
      <p:sp>
        <p:nvSpPr>
          <p:cNvPr id="3" name="text-Quản lý và truy xuất lô trái">
            <a:extLst xmlns:a="http://schemas.openxmlformats.org/drawingml/2006/main">
              <a:ext uri="{FF2B5EF4-FFF2-40B4-BE49-F238E27FC236}">
                <a16:creationId xmlns:a16="http://schemas.microsoft.com/office/drawing/2014/main" id="{741CBA89-69A0-4803-9D6E-C15E5796ABF0}"/>
              </a:ext>
            </a:extLst>
          </p:cNvPr>
          <p:cNvSpPr>
            <a:spLocks xmlns:a="http://schemas.openxmlformats.org/drawingml/2006/main" noGrp="1"/>
          </p:cNvSpPr>
          <p:nvPr/>
        </p:nvSpPr>
        <p:spPr>
          <a:xfrm xmlns:a="http://schemas.openxmlformats.org/drawingml/2006/main">
            <a:off x="647700" y="3552825"/>
            <a:ext cx="6905625" cy="964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536C7B"/>
                </a:solidFill>
                <a:latin typeface="DejaVu Sans"/>
                <a:ea typeface="DejaVu Sans"/>
                <a:cs typeface="DejaVu Sans"/>
              </a:defRPr>
            </a:defPPr>
          </a:lstStyle>
          <a:p xmlns:a="http://schemas.openxmlformats.org/drawingml/2006/main">
            <a:pPr algn="l">
              <a:buNone/>
              <a:defRPr sz="3000" b="0">
                <a:solidFill>
                  <a:srgbClr val="FFFFFF"/>
                </a:solidFill>
                <a:latin typeface="DejaVu Sans"/>
                <a:ea typeface="DejaVu Sans"/>
                <a:cs typeface="DejaVu Sans"/>
              </a:defRPr>
            </a:pPr>
            <a:r>
              <a:rPr sz="2850" b="0">
                <a:solidFill>
                  <a:srgbClr val="536C7B"/>
                </a:solidFill>
                <a:latin typeface="DejaVu Sans"/>
                <a:ea typeface="DejaVu Sans"/>
                <a:cs typeface="DejaVu Sans"/>
              </a:rPr>
              <a:t>Quản lý và truy xuất lô trái cây</a:t>
            </a:r>
          </a:p>
          <a:p xmlns:a="http://schemas.openxmlformats.org/drawingml/2006/main">
            <a:pPr algn="l">
              <a:buNone/>
              <a:defRPr sz="3000" b="0">
                <a:solidFill>
                  <a:srgbClr val="FFFFFF"/>
                </a:solidFill>
                <a:latin typeface="DejaVu Sans"/>
                <a:ea typeface="DejaVu Sans"/>
                <a:cs typeface="DejaVu Sans"/>
              </a:defRPr>
            </a:pPr>
            <a:r>
              <a:rPr sz="2850" b="0">
                <a:solidFill>
                  <a:srgbClr val="536C7B"/>
                </a:solidFill>
                <a:latin typeface="DejaVu Sans"/>
                <a:ea typeface="DejaVu Sans"/>
                <a:cs typeface="DejaVu Sans"/>
              </a:rPr>
              <a:t>từ vườn đến đại lý</a:t>
            </a:r>
          </a:p>
        </p:txBody>
      </p:sp>
      <p:sp>
        <p:nvSpPr>
          <p:cNvPr id="4" name="text-Báo cáo cuối kỳ&#10;Phát triển ứ">
            <a:extLst xmlns:a="http://schemas.openxmlformats.org/drawingml/2006/main">
              <a:ext uri="{FF2B5EF4-FFF2-40B4-BE49-F238E27FC236}">
                <a16:creationId xmlns:a16="http://schemas.microsoft.com/office/drawing/2014/main" id="{140E6965-6A8B-4062-BBC8-4B391A25FACD}"/>
              </a:ext>
            </a:extLst>
          </p:cNvPr>
          <p:cNvSpPr>
            <a:spLocks xmlns:a="http://schemas.openxmlformats.org/drawingml/2006/main" noGrp="1"/>
          </p:cNvSpPr>
          <p:nvPr/>
        </p:nvSpPr>
        <p:spPr>
          <a:xfrm xmlns:a="http://schemas.openxmlformats.org/drawingml/2006/main">
            <a:off x="647700" y="4967288"/>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24" b="0">
                <a:solidFill>
                  <a:srgbClr val="536C7B"/>
                </a:solidFill>
                <a:latin typeface="DejaVu Sans"/>
                <a:ea typeface="DejaVu Sans"/>
                <a:cs typeface="DejaVu Sans"/>
              </a:defRPr>
            </a:defPPr>
          </a:lstStyle>
          <a:p xmlns:a="http://schemas.openxmlformats.org/drawingml/2006/main">
            <a:pPr algn="l">
              <a:buNone/>
              <a:defRPr sz="2025" b="0">
                <a:solidFill>
                  <a:srgbClr val="DCEBDF"/>
                </a:solidFill>
                <a:latin typeface="DejaVu Sans"/>
                <a:ea typeface="DejaVu Sans"/>
                <a:cs typeface="DejaVu Sans"/>
              </a:defRPr>
            </a:pPr>
            <a:r>
              <a:rPr sz="1924" b="0">
                <a:solidFill>
                  <a:srgbClr val="536C7B"/>
                </a:solidFill>
                <a:latin typeface="DejaVu Sans"/>
                <a:ea typeface="DejaVu Sans"/>
                <a:cs typeface="DejaVu Sans"/>
              </a:rPr>
              <a:t>Báo cáo cuối kỳ</a:t>
            </a:r>
          </a:p>
          <a:p xmlns:a="http://schemas.openxmlformats.org/drawingml/2006/main">
            <a:pPr algn="l">
              <a:buNone/>
              <a:defRPr sz="2025" b="0">
                <a:solidFill>
                  <a:srgbClr val="DCEBDF"/>
                </a:solidFill>
                <a:latin typeface="DejaVu Sans"/>
                <a:ea typeface="DejaVu Sans"/>
                <a:cs typeface="DejaVu Sans"/>
              </a:defRPr>
            </a:pPr>
            <a:r>
              <a:rPr sz="1924" b="0">
                <a:solidFill>
                  <a:srgbClr val="536C7B"/>
                </a:solidFill>
                <a:latin typeface="DejaVu Sans"/>
                <a:ea typeface="DejaVu Sans"/>
                <a:cs typeface="DejaVu Sans"/>
              </a:rPr>
              <a:t>Phát triển ứng dụng di động</a:t>
            </a:r>
          </a:p>
        </p:txBody>
      </p:sp>
      <p:sp>
        <p:nvSpPr>
          <p:cNvPr id="5" name="text-GVHD: ThS. Huỳnh Hoàng Hà">
            <a:extLst xmlns:a="http://schemas.openxmlformats.org/drawingml/2006/main">
              <a:ext uri="{FF2B5EF4-FFF2-40B4-BE49-F238E27FC236}">
                <a16:creationId xmlns:a16="http://schemas.microsoft.com/office/drawing/2014/main" id="{E7E2F2C2-85D6-4900-A793-34DA8B6EA70F}"/>
              </a:ext>
            </a:extLst>
          </p:cNvPr>
          <p:cNvSpPr>
            <a:spLocks xmlns:a="http://schemas.openxmlformats.org/drawingml/2006/main" noGrp="1"/>
          </p:cNvSpPr>
          <p:nvPr/>
        </p:nvSpPr>
        <p:spPr>
          <a:xfrm xmlns:a="http://schemas.openxmlformats.org/drawingml/2006/main">
            <a:off x="647700" y="5824538"/>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10" b="0">
                <a:solidFill>
                  <a:srgbClr val="536C7B"/>
                </a:solidFill>
                <a:latin typeface="DejaVu Sans"/>
                <a:ea typeface="DejaVu Sans"/>
                <a:cs typeface="DejaVu Sans"/>
              </a:defRPr>
            </a:defPPr>
          </a:lstStyle>
          <a:p xmlns:a="http://schemas.openxmlformats.org/drawingml/2006/main">
            <a:pPr algn="l">
              <a:buNone/>
              <a:defRPr sz="1800" b="0">
                <a:solidFill>
                  <a:srgbClr val="DCEBDF"/>
                </a:solidFill>
                <a:latin typeface="DejaVu Sans"/>
                <a:ea typeface="DejaVu Sans"/>
                <a:cs typeface="DejaVu Sans"/>
              </a:defRPr>
            </a:pPr>
            <a:r>
              <a:rPr sz="1710" b="0">
                <a:solidFill>
                  <a:srgbClr val="536C7B"/>
                </a:solidFill>
                <a:latin typeface="DejaVu Sans"/>
                <a:ea typeface="DejaVu Sans"/>
                <a:cs typeface="DejaVu Sans"/>
              </a:rPr>
              <a:t>GVHD: ThS. Huỳnh Hoàng Hà</a:t>
            </a:r>
          </a:p>
        </p:txBody>
      </p:sp>
      <p:pic>
        <p:nvPicPr>
          <p:cNvPr id="6" name="">
            <a:extLst xmlns:a="http://schemas.openxmlformats.org/drawingml/2006/main">
              <a:ext uri="{FF2B5EF4-FFF2-40B4-BE49-F238E27FC236}">
                <a16:creationId xmlns:a16="http://schemas.microsoft.com/office/drawing/2014/main" id="{7499D683-221A-4042-B4E5-A76B73E382AD}"/>
              </a:ext>
            </a:extLst>
          </p:cNvPr>
          <p:cNvPicPr>
            <a:picLocks xmlns:a="http://schemas.openxmlformats.org/drawingml/2006/main" noChangeAspect="1"/>
          </p:cNvPicPr>
          <p:nvPr/>
        </p:nvPicPr>
        <p:blipFill>
          <a:blip xmlns:r="http://schemas.openxmlformats.org/officeDocument/2006/relationships" xmlns:a="http://schemas.openxmlformats.org/drawingml/2006/main" r:embed="R58213c4d2e70403a"/>
          <a:stretch xmlns:a="http://schemas.openxmlformats.org/drawingml/2006/main"/>
        </p:blipFill>
        <p:spPr>
          <a:xfrm xmlns:a="http://schemas.openxmlformats.org/drawingml/2006/main">
            <a:off x="8672513" y="2774156"/>
            <a:ext cx="2428875" cy="24288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4E580C3-4B3F-4F23-B099-BBB3048321CA}"/>
              </a:ext>
            </a:extLst>
          </p:cNvPr>
          <p:cNvPicPr>
            <a:picLocks xmlns:a="http://schemas.openxmlformats.org/drawingml/2006/main" noChangeAspect="1"/>
          </p:cNvPicPr>
          <p:nvPr/>
        </p:nvPicPr>
        <p:blipFill>
          <a:blip xmlns:r="http://schemas.openxmlformats.org/officeDocument/2006/relationships" xmlns:a="http://schemas.openxmlformats.org/drawingml/2006/main" r:embed="R954467acb1c94b12"/>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014110066"/>
      </p:ext>
    </p:extLst>
  </p:cSld>
</p:sld>
</file>

<file path=ppt/slides/slide2.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5" name="text-Thành viên và phân công">
            <a:extLst xmlns:a="http://schemas.openxmlformats.org/drawingml/2006/main">
              <a:ext uri="{FF2B5EF4-FFF2-40B4-BE49-F238E27FC236}">
                <a16:creationId xmlns:a16="http://schemas.microsoft.com/office/drawing/2014/main" id="{6C5B0A81-DEE0-4682-838B-CF719C36A435}"/>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Thành viên và phân công</a:t>
            </a:r>
          </a:p>
        </p:txBody>
      </p:sp>
      <p:sp>
        <p:nvSpPr>
          <p:cNvPr id="2" name="text-2">
            <a:extLst xmlns:a="http://schemas.openxmlformats.org/drawingml/2006/main">
              <a:ext uri="{FF2B5EF4-FFF2-40B4-BE49-F238E27FC236}">
                <a16:creationId xmlns:a16="http://schemas.microsoft.com/office/drawing/2014/main" id="{6C7497C5-9087-4B75-9368-9FDD81222CF6}"/>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2</a:t>
            </a:r>
          </a:p>
        </p:txBody>
      </p:sp>
      <p:graphicFrame>
        <p:nvGraphicFramePr>
          <p:cNvPr id="3" name="">
            <a:extLst xmlns:a="http://schemas.openxmlformats.org/drawingml/2006/main">
              <a:ext uri="{FF2B5EF4-FFF2-40B4-BE49-F238E27FC236}">
                <a16:creationId xmlns:a16="http://schemas.microsoft.com/office/drawing/2014/main" id="{FDCD2385-AEFB-4414-88BA-EB2A920A87CD}"/>
              </a:ext>
            </a:extLst>
          </p:cNvPr>
          <p:cNvGraphicFramePr/>
          <p:nvPr/>
        </p:nvGraphicFramePr>
        <p:xfrm>
          <a:off xmlns:a="http://schemas.openxmlformats.org/drawingml/2006/main" x="609600" y="2595563"/>
          <a:ext xmlns:a="http://schemas.openxmlformats.org/drawingml/2006/main" cx="10972800" cy="2957513"/>
        </p:xfrm>
        <a:graphic xmlns:a="http://schemas.openxmlformats.org/drawingml/2006/main">
          <a:graphicData uri="http://schemas.openxmlformats.org/drawingml/2006/table">
            <a:tbl>
              <a:tblPr/>
              <a:tblGrid>
                <a:gridCol w="4191000"/>
                <a:gridCol w="6781800"/>
              </a:tblGrid>
              <a:tr h="492919">
                <a:tc>
                  <a:txBody>
                    <a:bodyPr lIns="114300" tIns="114300" rIns="114300" bIns="114300">
                      <a:noAutofit/>
                    </a:bodyPr>
                    <a:lstStyle/>
                    <a:p>
                      <a:r>
                        <a:rPr sz="2175" b="1">
                          <a:solidFill>
                            <a:srgbClr val="FFFFFF"/>
                          </a:solidFill>
                          <a:latin typeface="DejaVu Sans"/>
                          <a:ea typeface="DejaVu Sans"/>
                          <a:cs typeface="DejaVu Sans"/>
                        </a:rPr>
                        <a:t>Thành viên</a:t>
                      </a:r>
                    </a:p>
                  </a:txBody>
                  <a:tcPr marL="91440" marR="91440" marT="45720" marB="45720" anchor="ctr">
                    <a:solidFill>
                      <a:srgbClr val="17583E"/>
                    </a:solidFill>
                  </a:tcPr>
                </a:tc>
                <a:tc>
                  <a:txBody>
                    <a:bodyPr lIns="114300" tIns="114300" rIns="114300" bIns="114300">
                      <a:noAutofit/>
                    </a:bodyPr>
                    <a:lstStyle/>
                    <a:p>
                      <a:r>
                        <a:rPr sz="2175" b="1">
                          <a:solidFill>
                            <a:srgbClr val="FFFFFF"/>
                          </a:solidFill>
                          <a:latin typeface="DejaVu Sans"/>
                          <a:ea typeface="DejaVu Sans"/>
                          <a:cs typeface="DejaVu Sans"/>
                        </a:rPr>
                        <a:t>Phần phụ trách</a:t>
                      </a:r>
                    </a:p>
                  </a:txBody>
                  <a:tcPr marL="91440" marR="91440" marT="45720" marB="45720" anchor="ctr">
                    <a:solidFill>
                      <a:srgbClr val="17583E"/>
                    </a:solidFill>
                  </a:tcPr>
                </a:tc>
              </a:tr>
              <a:tr h="492919">
                <a:tc>
                  <a:txBody>
                    <a:bodyPr lIns="114300" tIns="114300" rIns="114300" bIns="114300">
                      <a:noAutofit/>
                    </a:bodyPr>
                    <a:lstStyle/>
                    <a:p>
                      <a:r>
                        <a:rPr sz="2175" b="0">
                          <a:solidFill>
                            <a:srgbClr val="173729"/>
                          </a:solidFill>
                          <a:latin typeface="DejaVu Sans"/>
                          <a:ea typeface="DejaVu Sans"/>
                          <a:cs typeface="DejaVu Sans"/>
                        </a:rPr>
                        <a:t>Nguyễn Quốc Khánh</a:t>
                      </a:r>
                    </a:p>
                  </a:txBody>
                  <a:tcPr marL="91440" marR="91440" marT="45720" marB="45720" anchor="ctr">
                    <a:solidFill>
                      <a:srgbClr val="FFFFFF"/>
                    </a:solidFill>
                  </a:tcPr>
                </a:tc>
                <a:tc>
                  <a:txBody>
                    <a:bodyPr lIns="114300" tIns="114300" rIns="114300" bIns="114300">
                      <a:noAutofit/>
                    </a:bodyPr>
                    <a:lstStyle/>
                    <a:p>
                      <a:r>
                        <a:rPr sz="2175" b="0">
                          <a:solidFill>
                            <a:srgbClr val="173729"/>
                          </a:solidFill>
                          <a:latin typeface="DejaVu Sans"/>
                          <a:ea typeface="DejaVu Sans"/>
                          <a:cs typeface="DejaVu Sans"/>
                        </a:rPr>
                        <a:t>Firebase, logic nghiệp vụ và kiểm thử</a:t>
                      </a:r>
                    </a:p>
                  </a:txBody>
                  <a:tcPr marL="91440" marR="91440" marT="45720" marB="45720" anchor="ctr">
                    <a:solidFill>
                      <a:srgbClr val="FFFFFF"/>
                    </a:solidFill>
                  </a:tcPr>
                </a:tc>
              </a:tr>
              <a:tr h="492919">
                <a:tc>
                  <a:txBody>
                    <a:bodyPr lIns="114300" tIns="114300" rIns="114300" bIns="114300">
                      <a:noAutofit/>
                    </a:bodyPr>
                    <a:lstStyle/>
                    <a:p>
                      <a:r>
                        <a:rPr sz="2175" b="0">
                          <a:solidFill>
                            <a:srgbClr val="173729"/>
                          </a:solidFill>
                          <a:latin typeface="DejaVu Sans"/>
                          <a:ea typeface="DejaVu Sans"/>
                          <a:cs typeface="DejaVu Sans"/>
                        </a:rPr>
                        <a:t>Nguyễn Hiếu Liêm</a:t>
                      </a:r>
                    </a:p>
                  </a:txBody>
                  <a:tcPr marL="91440" marR="91440" marT="45720" marB="45720" anchor="ctr">
                    <a:solidFill>
                      <a:srgbClr val="EFF3EC"/>
                    </a:solidFill>
                  </a:tcPr>
                </a:tc>
                <a:tc>
                  <a:txBody>
                    <a:bodyPr lIns="114300" tIns="114300" rIns="114300" bIns="114300">
                      <a:noAutofit/>
                    </a:bodyPr>
                    <a:lstStyle/>
                    <a:p>
                      <a:r>
                        <a:rPr sz="2175" b="0">
                          <a:solidFill>
                            <a:srgbClr val="173729"/>
                          </a:solidFill>
                          <a:latin typeface="DejaVu Sans"/>
                          <a:ea typeface="DejaVu Sans"/>
                          <a:cs typeface="DejaVu Sans"/>
                        </a:rPr>
                        <a:t>Ứng dụng cho chủ vườn</a:t>
                      </a:r>
                    </a:p>
                  </a:txBody>
                  <a:tcPr marL="91440" marR="91440" marT="45720" marB="45720" anchor="ctr">
                    <a:solidFill>
                      <a:srgbClr val="EFF3EC"/>
                    </a:solidFill>
                  </a:tcPr>
                </a:tc>
              </a:tr>
              <a:tr h="492919">
                <a:tc>
                  <a:txBody>
                    <a:bodyPr lIns="114300" tIns="114300" rIns="114300" bIns="114300">
                      <a:noAutofit/>
                    </a:bodyPr>
                    <a:lstStyle/>
                    <a:p>
                      <a:r>
                        <a:rPr sz="2175" b="0">
                          <a:solidFill>
                            <a:srgbClr val="173729"/>
                          </a:solidFill>
                          <a:latin typeface="DejaVu Sans"/>
                          <a:ea typeface="DejaVu Sans"/>
                          <a:cs typeface="DejaVu Sans"/>
                        </a:rPr>
                        <a:t>Nguyễn Minh Nhật</a:t>
                      </a:r>
                    </a:p>
                  </a:txBody>
                  <a:tcPr marL="91440" marR="91440" marT="45720" marB="45720" anchor="ctr">
                    <a:solidFill>
                      <a:srgbClr val="FFFFFF"/>
                    </a:solidFill>
                  </a:tcPr>
                </a:tc>
                <a:tc>
                  <a:txBody>
                    <a:bodyPr lIns="114300" tIns="114300" rIns="114300" bIns="114300">
                      <a:noAutofit/>
                    </a:bodyPr>
                    <a:lstStyle/>
                    <a:p>
                      <a:r>
                        <a:rPr sz="2175" b="0">
                          <a:solidFill>
                            <a:srgbClr val="173729"/>
                          </a:solidFill>
                          <a:latin typeface="DejaVu Sans"/>
                          <a:ea typeface="DejaVu Sans"/>
                          <a:cs typeface="DejaVu Sans"/>
                        </a:rPr>
                        <a:t>Ứng dụng cho đại lý</a:t>
                      </a:r>
                    </a:p>
                  </a:txBody>
                  <a:tcPr marL="91440" marR="91440" marT="45720" marB="45720" anchor="ctr">
                    <a:solidFill>
                      <a:srgbClr val="FFFFFF"/>
                    </a:solidFill>
                  </a:tcPr>
                </a:tc>
              </a:tr>
              <a:tr h="492919">
                <a:tc>
                  <a:txBody>
                    <a:bodyPr lIns="114300" tIns="114300" rIns="114300" bIns="114300">
                      <a:noAutofit/>
                    </a:bodyPr>
                    <a:lstStyle/>
                    <a:p>
                      <a:r>
                        <a:rPr sz="2175" b="0">
                          <a:solidFill>
                            <a:srgbClr val="173729"/>
                          </a:solidFill>
                          <a:latin typeface="DejaVu Sans"/>
                          <a:ea typeface="DejaVu Sans"/>
                          <a:cs typeface="DejaVu Sans"/>
                        </a:rPr>
                        <a:t>Nguyễn Duy Vương</a:t>
                      </a:r>
                    </a:p>
                  </a:txBody>
                  <a:tcPr marL="91440" marR="91440" marT="45720" marB="45720" anchor="ctr">
                    <a:solidFill>
                      <a:srgbClr val="EFF3EC"/>
                    </a:solidFill>
                  </a:tcPr>
                </a:tc>
                <a:tc>
                  <a:txBody>
                    <a:bodyPr lIns="114300" tIns="114300" rIns="114300" bIns="114300">
                      <a:noAutofit/>
                    </a:bodyPr>
                    <a:lstStyle/>
                    <a:p>
                      <a:r>
                        <a:rPr sz="2175" b="0">
                          <a:solidFill>
                            <a:srgbClr val="173729"/>
                          </a:solidFill>
                          <a:latin typeface="DejaVu Sans"/>
                          <a:ea typeface="DejaVu Sans"/>
                          <a:cs typeface="DejaVu Sans"/>
                        </a:rPr>
                        <a:t>Trạm IoT và tích hợp hệ thống</a:t>
                      </a:r>
                    </a:p>
                  </a:txBody>
                  <a:tcPr marL="91440" marR="91440" marT="45720" marB="45720" anchor="ctr">
                    <a:solidFill>
                      <a:srgbClr val="EFF3EC"/>
                    </a:solidFill>
                  </a:tcPr>
                </a:tc>
              </a:tr>
              <a:tr h="492919">
                <a:tc>
                  <a:txBody>
                    <a:bodyPr lIns="114300" tIns="114300" rIns="114300" bIns="114300">
                      <a:noAutofit/>
                    </a:bodyPr>
                    <a:lstStyle/>
                    <a:p>
                      <a:r>
                        <a:rPr sz="2175" b="0">
                          <a:solidFill>
                            <a:srgbClr val="173729"/>
                          </a:solidFill>
                          <a:latin typeface="DejaVu Sans"/>
                          <a:ea typeface="DejaVu Sans"/>
                          <a:cs typeface="DejaVu Sans"/>
                        </a:rPr>
                        <a:t>Hà Quang Minh</a:t>
                      </a:r>
                    </a:p>
                  </a:txBody>
                  <a:tcPr marL="91440" marR="91440" marT="45720" marB="45720" anchor="ctr">
                    <a:solidFill>
                      <a:srgbClr val="FFFFFF"/>
                    </a:solidFill>
                  </a:tcPr>
                </a:tc>
                <a:tc>
                  <a:txBody>
                    <a:bodyPr lIns="114300" tIns="114300" rIns="114300" bIns="114300">
                      <a:noAutofit/>
                    </a:bodyPr>
                    <a:lstStyle/>
                    <a:p>
                      <a:r>
                        <a:rPr sz="2175" b="0">
                          <a:solidFill>
                            <a:srgbClr val="173729"/>
                          </a:solidFill>
                          <a:latin typeface="DejaVu Sans"/>
                          <a:ea typeface="DejaVu Sans"/>
                          <a:cs typeface="DejaVu Sans"/>
                        </a:rPr>
                        <a:t>Mô hình AI và tích hợp nhận diện</a:t>
                      </a:r>
                    </a:p>
                  </a:txBody>
                  <a:tcPr marL="91440" marR="91440" marT="45720" marB="45720" anchor="ctr">
                    <a:solidFill>
                      <a:srgbClr val="FFFFFF"/>
                    </a:solidFill>
                  </a:tcPr>
                </a:tc>
              </a:tr>
            </a:tbl>
          </a:graphicData>
        </a:graphic>
      </p:graphicFrame>
      <p:sp>
        <p:nvSpPr>
          <p:cNvPr id="4" name="text-Cả nhóm phối hợp kiểm tra lu">
            <a:extLst xmlns:a="http://schemas.openxmlformats.org/drawingml/2006/main">
              <a:ext uri="{FF2B5EF4-FFF2-40B4-BE49-F238E27FC236}">
                <a16:creationId xmlns:a16="http://schemas.microsoft.com/office/drawing/2014/main" id="{E9E15179-C473-4A55-B151-D6E144DB515C}"/>
              </a:ext>
            </a:extLst>
          </p:cNvPr>
          <p:cNvSpPr>
            <a:spLocks xmlns:a="http://schemas.openxmlformats.org/drawingml/2006/main" noGrp="1"/>
          </p:cNvSpPr>
          <p:nvPr/>
        </p:nvSpPr>
        <p:spPr>
          <a:xfrm xmlns:a="http://schemas.openxmlformats.org/drawingml/2006/main">
            <a:off x="609600" y="5803106"/>
            <a:ext cx="109728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24" b="0">
                <a:solidFill>
                  <a:srgbClr val="62746A"/>
                </a:solidFill>
                <a:latin typeface="DejaVu Sans"/>
                <a:ea typeface="DejaVu Sans"/>
                <a:cs typeface="DejaVu Sans"/>
              </a:defRPr>
            </a:defPPr>
          </a:lstStyle>
          <a:p xmlns:a="http://schemas.openxmlformats.org/drawingml/2006/main">
            <a:pPr algn="l">
              <a:buNone/>
              <a:defRPr sz="2025" b="0">
                <a:solidFill>
                  <a:srgbClr val="62746A"/>
                </a:solidFill>
                <a:latin typeface="DejaVu Sans"/>
                <a:ea typeface="DejaVu Sans"/>
                <a:cs typeface="DejaVu Sans"/>
              </a:defRPr>
            </a:pPr>
            <a:r>
              <a:rPr sz="1924" b="0">
                <a:solidFill>
                  <a:srgbClr val="62746A"/>
                </a:solidFill>
                <a:latin typeface="DejaVu Sans"/>
                <a:ea typeface="DejaVu Sans"/>
                <a:cs typeface="DejaVu Sans"/>
              </a:rPr>
              <a:t>Cả nhóm phối hợp kiểm tra luồng tạo, nhận và bán lô</a:t>
            </a:r>
          </a:p>
        </p:txBody>
      </p:sp>
      <p:pic>
        <p:nvPicPr>
          <p:cNvPr id="6" name="">
            <a:extLst xmlns:a="http://schemas.openxmlformats.org/drawingml/2006/main">
              <a:ext uri="{FF2B5EF4-FFF2-40B4-BE49-F238E27FC236}">
                <a16:creationId xmlns:a16="http://schemas.microsoft.com/office/drawing/2014/main" id="{C971DDB8-543B-4026-80A5-0665510D6FEA}"/>
              </a:ext>
            </a:extLst>
          </p:cNvPr>
          <p:cNvPicPr>
            <a:picLocks xmlns:a="http://schemas.openxmlformats.org/drawingml/2006/main" noChangeAspect="1"/>
          </p:cNvPicPr>
          <p:nvPr/>
        </p:nvPicPr>
        <p:blipFill>
          <a:blip xmlns:r="http://schemas.openxmlformats.org/officeDocument/2006/relationships" xmlns:a="http://schemas.openxmlformats.org/drawingml/2006/main" r:embed="Rec7e5822af714638"/>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902890748"/>
      </p:ext>
    </p:extLst>
  </p:cSld>
</p:sld>
</file>

<file path=ppt/slides/slide3.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11" name="text-Bài toán và mục tiêu">
            <a:extLst xmlns:a="http://schemas.openxmlformats.org/drawingml/2006/main">
              <a:ext uri="{FF2B5EF4-FFF2-40B4-BE49-F238E27FC236}">
                <a16:creationId xmlns:a16="http://schemas.microsoft.com/office/drawing/2014/main" id="{2C564524-25A8-4430-853A-B3D1DC5C11C2}"/>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Bài toán và mục tiêu</a:t>
            </a:r>
          </a:p>
        </p:txBody>
      </p:sp>
      <p:sp>
        <p:nvSpPr>
          <p:cNvPr id="2" name="text-3">
            <a:extLst xmlns:a="http://schemas.openxmlformats.org/drawingml/2006/main">
              <a:ext uri="{FF2B5EF4-FFF2-40B4-BE49-F238E27FC236}">
                <a16:creationId xmlns:a16="http://schemas.microsoft.com/office/drawing/2014/main" id="{5621D02B-9E1C-4729-94DC-68A27D5A2962}"/>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3</a:t>
            </a:r>
          </a:p>
        </p:txBody>
      </p:sp>
      <p:sp>
        <p:nvSpPr>
          <p:cNvPr id="3" name="text-Điều kiện bảo quản thay đổi">
            <a:extLst xmlns:a="http://schemas.openxmlformats.org/drawingml/2006/main">
              <a:ext uri="{FF2B5EF4-FFF2-40B4-BE49-F238E27FC236}">
                <a16:creationId xmlns:a16="http://schemas.microsoft.com/office/drawing/2014/main" id="{57C712C5-7F7C-421D-BBE2-D430C86CC6F5}"/>
              </a:ext>
            </a:extLst>
          </p:cNvPr>
          <p:cNvSpPr>
            <a:spLocks xmlns:a="http://schemas.openxmlformats.org/drawingml/2006/main" noGrp="1"/>
          </p:cNvSpPr>
          <p:nvPr/>
        </p:nvSpPr>
        <p:spPr>
          <a:xfrm xmlns:a="http://schemas.openxmlformats.org/drawingml/2006/main">
            <a:off x="609600" y="2652713"/>
            <a:ext cx="58102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8" b="1">
                <a:solidFill>
                  <a:srgbClr val="173729"/>
                </a:solidFill>
                <a:latin typeface="DejaVu Sans"/>
                <a:ea typeface="DejaVu Sans"/>
                <a:cs typeface="DejaVu Sans"/>
              </a:defRPr>
            </a:defPPr>
          </a:lstStyle>
          <a:p xmlns:a="http://schemas.openxmlformats.org/drawingml/2006/main">
            <a:pPr algn="l">
              <a:buNone/>
              <a:defRPr sz="2850" b="1">
                <a:solidFill>
                  <a:srgbClr val="173729"/>
                </a:solidFill>
                <a:latin typeface="DejaVu Sans"/>
                <a:ea typeface="DejaVu Sans"/>
                <a:cs typeface="DejaVu Sans"/>
              </a:defRPr>
            </a:pPr>
            <a:r>
              <a:rPr sz="2708" b="1">
                <a:solidFill>
                  <a:srgbClr val="173729"/>
                </a:solidFill>
                <a:latin typeface="DejaVu Sans"/>
                <a:ea typeface="DejaVu Sans"/>
                <a:cs typeface="DejaVu Sans"/>
              </a:rPr>
              <a:t>Điều kiện bảo quản thay đổi</a:t>
            </a:r>
          </a:p>
        </p:txBody>
      </p:sp>
      <p:sp>
        <p:nvSpPr>
          <p:cNvPr id="4" name="text-Ngày hết hạn cố định khó phả">
            <a:extLst xmlns:a="http://schemas.openxmlformats.org/drawingml/2006/main">
              <a:ext uri="{FF2B5EF4-FFF2-40B4-BE49-F238E27FC236}">
                <a16:creationId xmlns:a16="http://schemas.microsoft.com/office/drawing/2014/main" id="{37FE515C-8CC9-4753-9D21-C6493D95BFFA}"/>
              </a:ext>
            </a:extLst>
          </p:cNvPr>
          <p:cNvSpPr>
            <a:spLocks xmlns:a="http://schemas.openxmlformats.org/drawingml/2006/main" noGrp="1"/>
          </p:cNvSpPr>
          <p:nvPr/>
        </p:nvSpPr>
        <p:spPr>
          <a:xfrm xmlns:a="http://schemas.openxmlformats.org/drawingml/2006/main">
            <a:off x="609600" y="3281363"/>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38" b="0">
                <a:solidFill>
                  <a:srgbClr val="62746A"/>
                </a:solidFill>
                <a:latin typeface="DejaVu Sans"/>
                <a:ea typeface="DejaVu Sans"/>
                <a:cs typeface="DejaVu Sans"/>
              </a:defRPr>
            </a:defPPr>
          </a:lstStyle>
          <a:p xmlns:a="http://schemas.openxmlformats.org/drawingml/2006/main">
            <a:pPr algn="l">
              <a:buNone/>
              <a:defRPr sz="2250" b="0">
                <a:solidFill>
                  <a:srgbClr val="62746A"/>
                </a:solidFill>
                <a:latin typeface="DejaVu Sans"/>
                <a:ea typeface="DejaVu Sans"/>
                <a:cs typeface="DejaVu Sans"/>
              </a:defRPr>
            </a:pPr>
            <a:r>
              <a:rPr sz="2138" b="0">
                <a:solidFill>
                  <a:srgbClr val="62746A"/>
                </a:solidFill>
                <a:latin typeface="DejaVu Sans"/>
                <a:ea typeface="DejaVu Sans"/>
                <a:cs typeface="DejaVu Sans"/>
              </a:rPr>
              <a:t>Ngày hết hạn cố định khó phản ánh</a:t>
            </a:r>
          </a:p>
          <a:p xmlns:a="http://schemas.openxmlformats.org/drawingml/2006/main">
            <a:pPr algn="l">
              <a:buNone/>
              <a:defRPr sz="2250" b="0">
                <a:solidFill>
                  <a:srgbClr val="62746A"/>
                </a:solidFill>
                <a:latin typeface="DejaVu Sans"/>
                <a:ea typeface="DejaVu Sans"/>
                <a:cs typeface="DejaVu Sans"/>
              </a:defRPr>
            </a:pPr>
            <a:r>
              <a:rPr sz="2138" b="0">
                <a:solidFill>
                  <a:srgbClr val="62746A"/>
                </a:solidFill>
                <a:latin typeface="DejaVu Sans"/>
                <a:ea typeface="DejaVu Sans"/>
                <a:cs typeface="DejaVu Sans"/>
              </a:rPr>
              <a:t>quá trình bảo quản và vận chuyển</a:t>
            </a:r>
          </a:p>
        </p:txBody>
      </p:sp>
      <p:sp>
        <p:nvSpPr>
          <p:cNvPr id="5" name="text-Mục tiêu của FruitTrace">
            <a:extLst xmlns:a="http://schemas.openxmlformats.org/drawingml/2006/main">
              <a:ext uri="{FF2B5EF4-FFF2-40B4-BE49-F238E27FC236}">
                <a16:creationId xmlns:a16="http://schemas.microsoft.com/office/drawing/2014/main" id="{A9406416-CF90-4366-85F5-79241B176BE4}"/>
              </a:ext>
            </a:extLst>
          </p:cNvPr>
          <p:cNvSpPr>
            <a:spLocks xmlns:a="http://schemas.openxmlformats.org/drawingml/2006/main" noGrp="1"/>
          </p:cNvSpPr>
          <p:nvPr/>
        </p:nvSpPr>
        <p:spPr>
          <a:xfrm xmlns:a="http://schemas.openxmlformats.org/drawingml/2006/main">
            <a:off x="6667500" y="2667000"/>
            <a:ext cx="4857750" cy="38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23" b="1">
                <a:solidFill>
                  <a:srgbClr val="173729"/>
                </a:solidFill>
                <a:latin typeface="DejaVu Sans"/>
                <a:ea typeface="DejaVu Sans"/>
                <a:cs typeface="DejaVu Sans"/>
              </a:defRPr>
            </a:defPPr>
          </a:lstStyle>
          <a:p xmlns:a="http://schemas.openxmlformats.org/drawingml/2006/main">
            <a:pPr algn="l">
              <a:buNone/>
              <a:defRPr sz="2550" b="1">
                <a:solidFill>
                  <a:srgbClr val="173729"/>
                </a:solidFill>
                <a:latin typeface="DejaVu Sans"/>
                <a:ea typeface="DejaVu Sans"/>
                <a:cs typeface="DejaVu Sans"/>
              </a:defRPr>
            </a:pPr>
            <a:r>
              <a:rPr sz="2423" b="1">
                <a:solidFill>
                  <a:srgbClr val="173729"/>
                </a:solidFill>
                <a:latin typeface="DejaVu Sans"/>
                <a:ea typeface="DejaVu Sans"/>
                <a:cs typeface="DejaVu Sans"/>
              </a:rPr>
              <a:t>Mục tiêu của FruitTrace</a:t>
            </a:r>
          </a:p>
        </p:txBody>
      </p:sp>
      <p:sp>
        <p:nvSpPr>
          <p:cNvPr id="6" name="text-Quản lý lô bằng mã QR&#10;Theo d">
            <a:extLst xmlns:a="http://schemas.openxmlformats.org/drawingml/2006/main">
              <a:ext uri="{FF2B5EF4-FFF2-40B4-BE49-F238E27FC236}">
                <a16:creationId xmlns:a16="http://schemas.microsoft.com/office/drawing/2014/main" id="{79A81E1C-DEF2-4414-B555-A2A3B05D2652}"/>
              </a:ext>
            </a:extLst>
          </p:cNvPr>
          <p:cNvSpPr>
            <a:spLocks xmlns:a="http://schemas.openxmlformats.org/drawingml/2006/main" noGrp="1"/>
          </p:cNvSpPr>
          <p:nvPr/>
        </p:nvSpPr>
        <p:spPr>
          <a:xfrm xmlns:a="http://schemas.openxmlformats.org/drawingml/2006/main">
            <a:off x="6667500" y="3231356"/>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0">
                <a:solidFill>
                  <a:srgbClr val="62746A"/>
                </a:solidFill>
                <a:latin typeface="DejaVu Sans"/>
                <a:ea typeface="DejaVu Sans"/>
                <a:cs typeface="DejaVu Sans"/>
              </a:defRPr>
            </a:defPPr>
          </a:lstStyle>
          <a:p xmlns:a="http://schemas.openxmlformats.org/drawingml/2006/main">
            <a:pPr algn="l">
              <a:buNone/>
              <a:defRPr sz="2175" b="0">
                <a:solidFill>
                  <a:srgbClr val="62746A"/>
                </a:solidFill>
                <a:latin typeface="DejaVu Sans"/>
                <a:ea typeface="DejaVu Sans"/>
                <a:cs typeface="DejaVu Sans"/>
              </a:defRPr>
            </a:pPr>
            <a:r>
              <a:rPr sz="2066" b="0">
                <a:solidFill>
                  <a:srgbClr val="62746A"/>
                </a:solidFill>
                <a:latin typeface="DejaVu Sans"/>
                <a:ea typeface="DejaVu Sans"/>
                <a:cs typeface="DejaVu Sans"/>
              </a:rPr>
              <a:t>Quản lý lô bằng mã QR</a:t>
            </a:r>
          </a:p>
          <a:p xmlns:a="http://schemas.openxmlformats.org/drawingml/2006/main">
            <a:pPr algn="l">
              <a:buNone/>
              <a:defRPr sz="2175" b="0">
                <a:solidFill>
                  <a:srgbClr val="62746A"/>
                </a:solidFill>
                <a:latin typeface="DejaVu Sans"/>
                <a:ea typeface="DejaVu Sans"/>
                <a:cs typeface="DejaVu Sans"/>
              </a:defRPr>
            </a:pPr>
            <a:r>
              <a:rPr sz="2066" b="0">
                <a:solidFill>
                  <a:srgbClr val="62746A"/>
                </a:solidFill>
                <a:latin typeface="DejaVu Sans"/>
                <a:ea typeface="DejaVu Sans"/>
                <a:cs typeface="DejaVu Sans"/>
              </a:rPr>
              <a:t>Theo dõi hành trình và người giữ</a:t>
            </a:r>
          </a:p>
          <a:p xmlns:a="http://schemas.openxmlformats.org/drawingml/2006/main">
            <a:pPr algn="l">
              <a:buNone/>
              <a:defRPr sz="2175" b="0">
                <a:solidFill>
                  <a:srgbClr val="62746A"/>
                </a:solidFill>
                <a:latin typeface="DejaVu Sans"/>
                <a:ea typeface="DejaVu Sans"/>
                <a:cs typeface="DejaVu Sans"/>
              </a:defRPr>
            </a:pPr>
            <a:r>
              <a:rPr sz="2066" b="0">
                <a:solidFill>
                  <a:srgbClr val="62746A"/>
                </a:solidFill>
                <a:latin typeface="DejaVu Sans"/>
                <a:ea typeface="DejaVu Sans"/>
                <a:cs typeface="DejaVu Sans"/>
              </a:rPr>
              <a:t>Ước lượng vòng đời theo nhiệt độ</a:t>
            </a:r>
          </a:p>
        </p:txBody>
      </p:sp>
      <p:sp>
        <p:nvSpPr>
          <p:cNvPr id="7" name="text-5">
            <a:extLst xmlns:a="http://schemas.openxmlformats.org/drawingml/2006/main">
              <a:ext uri="{FF2B5EF4-FFF2-40B4-BE49-F238E27FC236}">
                <a16:creationId xmlns:a16="http://schemas.microsoft.com/office/drawing/2014/main" id="{597E10D6-4AD5-41C5-BA2B-2FC9766D1D4F}"/>
              </a:ext>
            </a:extLst>
          </p:cNvPr>
          <p:cNvSpPr>
            <a:spLocks xmlns:a="http://schemas.openxmlformats.org/drawingml/2006/main" noGrp="1"/>
          </p:cNvSpPr>
          <p:nvPr/>
        </p:nvSpPr>
        <p:spPr>
          <a:xfrm xmlns:a="http://schemas.openxmlformats.org/drawingml/2006/main">
            <a:off x="609600" y="4838700"/>
            <a:ext cx="1285875" cy="73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74" b="1">
                <a:solidFill>
                  <a:srgbClr val="17583E"/>
                </a:solidFill>
                <a:latin typeface="DejaVu Sans"/>
                <a:ea typeface="DejaVu Sans"/>
                <a:cs typeface="DejaVu Sans"/>
              </a:defRPr>
            </a:defPPr>
          </a:lstStyle>
          <a:p xmlns:a="http://schemas.openxmlformats.org/drawingml/2006/main">
            <a:pPr algn="l">
              <a:buNone/>
              <a:defRPr sz="5700" b="1">
                <a:solidFill>
                  <a:srgbClr val="17583E"/>
                </a:solidFill>
                <a:latin typeface="DejaVu Sans"/>
                <a:ea typeface="DejaVu Sans"/>
                <a:cs typeface="DejaVu Sans"/>
              </a:defRPr>
            </a:pPr>
            <a:r>
              <a:rPr sz="4674" b="1">
                <a:solidFill>
                  <a:srgbClr val="17583E"/>
                </a:solidFill>
                <a:latin typeface="DejaVu Sans"/>
                <a:ea typeface="DejaVu Sans"/>
                <a:cs typeface="DejaVu Sans"/>
              </a:rPr>
              <a:t>5</a:t>
            </a:r>
          </a:p>
        </p:txBody>
      </p:sp>
      <p:sp>
        <p:nvSpPr>
          <p:cNvPr id="8" name="text-nhóm trái cây&#10;Chuối, xoài, t">
            <a:extLst xmlns:a="http://schemas.openxmlformats.org/drawingml/2006/main">
              <a:ext uri="{FF2B5EF4-FFF2-40B4-BE49-F238E27FC236}">
                <a16:creationId xmlns:a16="http://schemas.microsoft.com/office/drawing/2014/main" id="{55F77894-3BF0-4C68-BDC0-438E1304ECFE}"/>
              </a:ext>
            </a:extLst>
          </p:cNvPr>
          <p:cNvSpPr>
            <a:spLocks xmlns:a="http://schemas.openxmlformats.org/drawingml/2006/main" noGrp="1"/>
          </p:cNvSpPr>
          <p:nvPr/>
        </p:nvSpPr>
        <p:spPr>
          <a:xfrm xmlns:a="http://schemas.openxmlformats.org/drawingml/2006/main">
            <a:off x="1924050" y="4988719"/>
            <a:ext cx="561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0">
                <a:solidFill>
                  <a:srgbClr val="173729"/>
                </a:solidFill>
                <a:latin typeface="DejaVu Sans"/>
                <a:ea typeface="DejaVu Sans"/>
                <a:cs typeface="DejaVu Sans"/>
              </a:defRPr>
            </a:defPPr>
          </a:lstStyle>
          <a:p xmlns:a="http://schemas.openxmlformats.org/drawingml/2006/main">
            <a:pPr algn="l">
              <a:buNone/>
              <a:defRPr sz="2100" b="0">
                <a:solidFill>
                  <a:srgbClr val="173729"/>
                </a:solidFill>
                <a:latin typeface="DejaVu Sans"/>
                <a:ea typeface="DejaVu Sans"/>
                <a:cs typeface="DejaVu Sans"/>
              </a:defRPr>
            </a:pPr>
            <a:r>
              <a:rPr sz="1995" b="0">
                <a:solidFill>
                  <a:srgbClr val="173729"/>
                </a:solidFill>
                <a:latin typeface="DejaVu Sans"/>
                <a:ea typeface="DejaVu Sans"/>
                <a:cs typeface="DejaVu Sans"/>
              </a:rPr>
              <a:t>nhóm trái cây</a:t>
            </a:r>
          </a:p>
          <a:p xmlns:a="http://schemas.openxmlformats.org/drawingml/2006/main">
            <a:pPr algn="l">
              <a:buNone/>
              <a:defRPr sz="2100" b="0">
                <a:solidFill>
                  <a:srgbClr val="173729"/>
                </a:solidFill>
                <a:latin typeface="DejaVu Sans"/>
                <a:ea typeface="DejaVu Sans"/>
                <a:cs typeface="DejaVu Sans"/>
              </a:defRPr>
            </a:pPr>
            <a:r>
              <a:rPr sz="1995" b="0">
                <a:solidFill>
                  <a:srgbClr val="173729"/>
                </a:solidFill>
                <a:latin typeface="DejaVu Sans"/>
                <a:ea typeface="DejaVu Sans"/>
                <a:cs typeface="DejaVu Sans"/>
              </a:rPr>
              <a:t>Chuối, xoài, táo, nho, dâu</a:t>
            </a:r>
          </a:p>
        </p:txBody>
      </p:sp>
      <p:sp>
        <p:nvSpPr>
          <p:cNvPr id="9" name="text-2">
            <a:extLst xmlns:a="http://schemas.openxmlformats.org/drawingml/2006/main">
              <a:ext uri="{FF2B5EF4-FFF2-40B4-BE49-F238E27FC236}">
                <a16:creationId xmlns:a16="http://schemas.microsoft.com/office/drawing/2014/main" id="{CB8EB327-72E4-495F-A15D-53DE25431D7E}"/>
              </a:ext>
            </a:extLst>
          </p:cNvPr>
          <p:cNvSpPr>
            <a:spLocks xmlns:a="http://schemas.openxmlformats.org/drawingml/2006/main" noGrp="1"/>
          </p:cNvSpPr>
          <p:nvPr/>
        </p:nvSpPr>
        <p:spPr>
          <a:xfrm xmlns:a="http://schemas.openxmlformats.org/drawingml/2006/main">
            <a:off x="8134350" y="4838700"/>
            <a:ext cx="1143000" cy="73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74" b="1">
                <a:solidFill>
                  <a:srgbClr val="17583E"/>
                </a:solidFill>
                <a:latin typeface="DejaVu Sans"/>
                <a:ea typeface="DejaVu Sans"/>
                <a:cs typeface="DejaVu Sans"/>
              </a:defRPr>
            </a:defPPr>
          </a:lstStyle>
          <a:p xmlns:a="http://schemas.openxmlformats.org/drawingml/2006/main">
            <a:pPr algn="l">
              <a:buNone/>
              <a:defRPr sz="5700" b="1">
                <a:solidFill>
                  <a:srgbClr val="17583E"/>
                </a:solidFill>
                <a:latin typeface="DejaVu Sans"/>
                <a:ea typeface="DejaVu Sans"/>
                <a:cs typeface="DejaVu Sans"/>
              </a:defRPr>
            </a:pPr>
            <a:r>
              <a:rPr sz="4674" b="1">
                <a:solidFill>
                  <a:srgbClr val="17583E"/>
                </a:solidFill>
                <a:latin typeface="DejaVu Sans"/>
                <a:ea typeface="DejaVu Sans"/>
                <a:cs typeface="DejaVu Sans"/>
              </a:rPr>
              <a:t>2</a:t>
            </a:r>
          </a:p>
        </p:txBody>
      </p:sp>
      <p:sp>
        <p:nvSpPr>
          <p:cNvPr id="10" name="text-vai trò&#10;Chủ vườn, đại lý">
            <a:extLst xmlns:a="http://schemas.openxmlformats.org/drawingml/2006/main">
              <a:ext uri="{FF2B5EF4-FFF2-40B4-BE49-F238E27FC236}">
                <a16:creationId xmlns:a16="http://schemas.microsoft.com/office/drawing/2014/main" id="{0A47CCC4-E0EA-47B7-89E5-0D3F808B6606}"/>
              </a:ext>
            </a:extLst>
          </p:cNvPr>
          <p:cNvSpPr>
            <a:spLocks xmlns:a="http://schemas.openxmlformats.org/drawingml/2006/main" noGrp="1"/>
          </p:cNvSpPr>
          <p:nvPr/>
        </p:nvSpPr>
        <p:spPr>
          <a:xfrm xmlns:a="http://schemas.openxmlformats.org/drawingml/2006/main">
            <a:off x="9372600" y="4988719"/>
            <a:ext cx="2209800"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24" b="0">
                <a:solidFill>
                  <a:srgbClr val="173729"/>
                </a:solidFill>
                <a:latin typeface="DejaVu Sans"/>
                <a:ea typeface="DejaVu Sans"/>
                <a:cs typeface="DejaVu Sans"/>
              </a:defRPr>
            </a:defPPr>
          </a:lstStyle>
          <a:p xmlns:a="http://schemas.openxmlformats.org/drawingml/2006/main">
            <a:pPr algn="l">
              <a:buNone/>
              <a:defRPr sz="2025" b="0">
                <a:solidFill>
                  <a:srgbClr val="173729"/>
                </a:solidFill>
                <a:latin typeface="DejaVu Sans"/>
                <a:ea typeface="DejaVu Sans"/>
                <a:cs typeface="DejaVu Sans"/>
              </a:defRPr>
            </a:pPr>
            <a:r>
              <a:rPr sz="1924" b="0">
                <a:solidFill>
                  <a:srgbClr val="173729"/>
                </a:solidFill>
                <a:latin typeface="DejaVu Sans"/>
                <a:ea typeface="DejaVu Sans"/>
                <a:cs typeface="DejaVu Sans"/>
              </a:rPr>
              <a:t>vai trò</a:t>
            </a:r>
          </a:p>
          <a:p xmlns:a="http://schemas.openxmlformats.org/drawingml/2006/main">
            <a:pPr algn="l">
              <a:buNone/>
              <a:defRPr sz="2025" b="0">
                <a:solidFill>
                  <a:srgbClr val="173729"/>
                </a:solidFill>
                <a:latin typeface="DejaVu Sans"/>
                <a:ea typeface="DejaVu Sans"/>
                <a:cs typeface="DejaVu Sans"/>
              </a:defRPr>
            </a:pPr>
            <a:r>
              <a:rPr sz="1924" b="0">
                <a:solidFill>
                  <a:srgbClr val="173729"/>
                </a:solidFill>
                <a:latin typeface="DejaVu Sans"/>
                <a:ea typeface="DejaVu Sans"/>
                <a:cs typeface="DejaVu Sans"/>
              </a:rPr>
              <a:t>Chủ vườn, đại lý</a:t>
            </a:r>
          </a:p>
        </p:txBody>
      </p:sp>
      <p:pic>
        <p:nvPicPr>
          <p:cNvPr id="12" name="">
            <a:extLst xmlns:a="http://schemas.openxmlformats.org/drawingml/2006/main">
              <a:ext uri="{FF2B5EF4-FFF2-40B4-BE49-F238E27FC236}">
                <a16:creationId xmlns:a16="http://schemas.microsoft.com/office/drawing/2014/main" id="{2DE5DBA3-E283-4497-B35E-4E3F013909C8}"/>
              </a:ext>
            </a:extLst>
          </p:cNvPr>
          <p:cNvPicPr>
            <a:picLocks xmlns:a="http://schemas.openxmlformats.org/drawingml/2006/main" noChangeAspect="1"/>
          </p:cNvPicPr>
          <p:nvPr/>
        </p:nvPicPr>
        <p:blipFill>
          <a:blip xmlns:r="http://schemas.openxmlformats.org/officeDocument/2006/relationships" xmlns:a="http://schemas.openxmlformats.org/drawingml/2006/main" r:embed="R065347e49c074855"/>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395549108"/>
      </p:ext>
    </p:extLst>
  </p:cSld>
</p:sld>
</file>

<file path=ppt/slides/slide4.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5" name="text-Kiến trúc hệ thống">
            <a:extLst xmlns:a="http://schemas.openxmlformats.org/drawingml/2006/main">
              <a:ext uri="{FF2B5EF4-FFF2-40B4-BE49-F238E27FC236}">
                <a16:creationId xmlns:a16="http://schemas.microsoft.com/office/drawing/2014/main" id="{ACFB8C8F-B517-4333-AE43-DF168256CCEB}"/>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Kiến trúc hệ thống</a:t>
            </a:r>
          </a:p>
        </p:txBody>
      </p:sp>
      <p:sp>
        <p:nvSpPr>
          <p:cNvPr id="2" name="text-4">
            <a:extLst xmlns:a="http://schemas.openxmlformats.org/drawingml/2006/main">
              <a:ext uri="{FF2B5EF4-FFF2-40B4-BE49-F238E27FC236}">
                <a16:creationId xmlns:a16="http://schemas.microsoft.com/office/drawing/2014/main" id="{C7C70442-FE68-4DB2-B000-36E2A2C4361A}"/>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4</a:t>
            </a:r>
          </a:p>
        </p:txBody>
      </p:sp>
      <p:pic>
        <p:nvPicPr>
          <p:cNvPr id="3" name="">
            <a:extLst xmlns:a="http://schemas.openxmlformats.org/drawingml/2006/main">
              <a:ext uri="{FF2B5EF4-FFF2-40B4-BE49-F238E27FC236}">
                <a16:creationId xmlns:a16="http://schemas.microsoft.com/office/drawing/2014/main" id="{822B601D-B0EB-4853-9C16-EF9797CB8BDC}"/>
              </a:ext>
            </a:extLst>
          </p:cNvPr>
          <p:cNvPicPr>
            <a:picLocks xmlns:a="http://schemas.openxmlformats.org/drawingml/2006/main" noChangeAspect="1"/>
          </p:cNvPicPr>
          <p:nvPr/>
        </p:nvPicPr>
        <p:blipFill>
          <a:blip xmlns:r="http://schemas.openxmlformats.org/officeDocument/2006/relationships" xmlns:a="http://schemas.openxmlformats.org/drawingml/2006/main" r:embed="R532e4732a9bd4f3d"/>
          <a:stretch xmlns:a="http://schemas.openxmlformats.org/drawingml/2006/main"/>
        </p:blipFill>
        <p:spPr>
          <a:xfrm xmlns:a="http://schemas.openxmlformats.org/drawingml/2006/main">
            <a:off x="2561304" y="2566988"/>
            <a:ext cx="7069391" cy="3143250"/>
          </a:xfrm>
          <a:prstGeom xmlns:a="http://schemas.openxmlformats.org/drawingml/2006/main" prst="rect">
            <a:avLst/>
          </a:prstGeom>
        </p:spPr>
      </p:pic>
      <p:sp>
        <p:nvSpPr>
          <p:cNvPr id="4" name="text-Ứng dụng dùng Firebase SDK. ">
            <a:extLst xmlns:a="http://schemas.openxmlformats.org/drawingml/2006/main">
              <a:ext uri="{FF2B5EF4-FFF2-40B4-BE49-F238E27FC236}">
                <a16:creationId xmlns:a16="http://schemas.microsoft.com/office/drawing/2014/main" id="{F6104DAD-EE28-4E57-B9DE-E69308AE2F7A}"/>
              </a:ext>
            </a:extLst>
          </p:cNvPr>
          <p:cNvSpPr>
            <a:spLocks xmlns:a="http://schemas.openxmlformats.org/drawingml/2006/main" noGrp="1"/>
          </p:cNvSpPr>
          <p:nvPr/>
        </p:nvSpPr>
        <p:spPr>
          <a:xfrm xmlns:a="http://schemas.openxmlformats.org/drawingml/2006/main">
            <a:off x="609600" y="5867400"/>
            <a:ext cx="10972800" cy="302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24" b="0">
                <a:solidFill>
                  <a:srgbClr val="62746A"/>
                </a:solidFill>
                <a:latin typeface="DejaVu Sans"/>
                <a:ea typeface="DejaVu Sans"/>
                <a:cs typeface="DejaVu Sans"/>
              </a:defRPr>
            </a:defPPr>
          </a:lstStyle>
          <a:p xmlns:a="http://schemas.openxmlformats.org/drawingml/2006/main">
            <a:pPr algn="l">
              <a:buNone/>
              <a:defRPr sz="2025" b="0">
                <a:solidFill>
                  <a:srgbClr val="62746A"/>
                </a:solidFill>
                <a:latin typeface="DejaVu Sans"/>
                <a:ea typeface="DejaVu Sans"/>
                <a:cs typeface="DejaVu Sans"/>
              </a:defRPr>
            </a:pPr>
            <a:r>
              <a:rPr sz="1924" b="0">
                <a:solidFill>
                  <a:srgbClr val="62746A"/>
                </a:solidFill>
                <a:latin typeface="DejaVu Sans"/>
                <a:ea typeface="DejaVu Sans"/>
                <a:cs typeface="DejaVu Sans"/>
              </a:rPr>
              <a:t>Ứng dụng dùng Firebase SDK. Trạm IoT gửi REST qua HTTPS.</a:t>
            </a:r>
          </a:p>
        </p:txBody>
      </p:sp>
      <p:pic>
        <p:nvPicPr>
          <p:cNvPr id="6" name="">
            <a:extLst xmlns:a="http://schemas.openxmlformats.org/drawingml/2006/main">
              <a:ext uri="{FF2B5EF4-FFF2-40B4-BE49-F238E27FC236}">
                <a16:creationId xmlns:a16="http://schemas.microsoft.com/office/drawing/2014/main" id="{A7CB59A9-11B4-4FED-8684-5B19FAD5416C}"/>
              </a:ext>
            </a:extLst>
          </p:cNvPr>
          <p:cNvPicPr>
            <a:picLocks xmlns:a="http://schemas.openxmlformats.org/drawingml/2006/main" noChangeAspect="1"/>
          </p:cNvPicPr>
          <p:nvPr/>
        </p:nvPicPr>
        <p:blipFill>
          <a:blip xmlns:r="http://schemas.openxmlformats.org/officeDocument/2006/relationships" xmlns:a="http://schemas.openxmlformats.org/drawingml/2006/main" r:embed="Re5530875f5324075"/>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163348038"/>
      </p:ext>
    </p:extLst>
  </p:cSld>
</p:sld>
</file>

<file path=ppt/slides/slide5.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7" name="text-Vòng đời lô hàng và mã QR">
            <a:extLst xmlns:a="http://schemas.openxmlformats.org/drawingml/2006/main">
              <a:ext uri="{FF2B5EF4-FFF2-40B4-BE49-F238E27FC236}">
                <a16:creationId xmlns:a16="http://schemas.microsoft.com/office/drawing/2014/main" id="{87E51FD7-C4B0-44F2-A85D-3445C192CE98}"/>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Vòng đời lô hàng và mã QR</a:t>
            </a:r>
          </a:p>
        </p:txBody>
      </p:sp>
      <p:sp>
        <p:nvSpPr>
          <p:cNvPr id="2" name="text-5">
            <a:extLst xmlns:a="http://schemas.openxmlformats.org/drawingml/2006/main">
              <a:ext uri="{FF2B5EF4-FFF2-40B4-BE49-F238E27FC236}">
                <a16:creationId xmlns:a16="http://schemas.microsoft.com/office/drawing/2014/main" id="{00371D9E-9172-4B90-9D72-E9B572E6A5FA}"/>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5</a:t>
            </a:r>
          </a:p>
        </p:txBody>
      </p:sp>
      <p:graphicFrame>
        <p:nvGraphicFramePr>
          <p:cNvPr id="3" name="">
            <a:extLst xmlns:a="http://schemas.openxmlformats.org/drawingml/2006/main">
              <a:ext uri="{FF2B5EF4-FFF2-40B4-BE49-F238E27FC236}">
                <a16:creationId xmlns:a16="http://schemas.microsoft.com/office/drawing/2014/main" id="{589DB903-A401-4CDE-A13F-194DFF41F9E5}"/>
              </a:ext>
            </a:extLst>
          </p:cNvPr>
          <p:cNvGraphicFramePr/>
          <p:nvPr/>
        </p:nvGraphicFramePr>
        <p:xfrm>
          <a:off xmlns:a="http://schemas.openxmlformats.org/drawingml/2006/main" x="609600" y="2609850"/>
          <a:ext xmlns:a="http://schemas.openxmlformats.org/drawingml/2006/main" cx="7715250" cy="2764631"/>
        </p:xfrm>
        <a:graphic xmlns:a="http://schemas.openxmlformats.org/drawingml/2006/main">
          <a:graphicData uri="http://schemas.openxmlformats.org/drawingml/2006/table">
            <a:tbl>
              <a:tblPr/>
              <a:tblGrid>
                <a:gridCol w="2000250"/>
                <a:gridCol w="3619500"/>
                <a:gridCol w="2095500"/>
              </a:tblGrid>
              <a:tr h="552926">
                <a:tc>
                  <a:txBody>
                    <a:bodyPr lIns="114300" tIns="114300" rIns="114300" bIns="114300">
                      <a:noAutofit/>
                    </a:bodyPr>
                    <a:lstStyle/>
                    <a:p>
                      <a:r>
                        <a:rPr sz="1875" b="1">
                          <a:solidFill>
                            <a:srgbClr val="FFFFFF"/>
                          </a:solidFill>
                          <a:latin typeface="DejaVu Sans"/>
                          <a:ea typeface="DejaVu Sans"/>
                          <a:cs typeface="DejaVu Sans"/>
                        </a:rPr>
                        <a:t>Giai đoạn</a:t>
                      </a:r>
                    </a:p>
                  </a:txBody>
                  <a:tcPr marL="91440" marR="91440" marT="45720" marB="45720" anchor="ctr">
                    <a:solidFill>
                      <a:srgbClr val="17583E"/>
                    </a:solidFill>
                  </a:tcPr>
                </a:tc>
                <a:tc>
                  <a:txBody>
                    <a:bodyPr lIns="114300" tIns="114300" rIns="114300" bIns="114300">
                      <a:noAutofit/>
                    </a:bodyPr>
                    <a:lstStyle/>
                    <a:p>
                      <a:r>
                        <a:rPr sz="1875" b="1">
                          <a:solidFill>
                            <a:srgbClr val="FFFFFF"/>
                          </a:solidFill>
                          <a:latin typeface="DejaVu Sans"/>
                          <a:ea typeface="DejaVu Sans"/>
                          <a:cs typeface="DejaVu Sans"/>
                        </a:rPr>
                        <a:t>Thao tác</a:t>
                      </a:r>
                    </a:p>
                  </a:txBody>
                  <a:tcPr marL="91440" marR="91440" marT="45720" marB="45720" anchor="ctr">
                    <a:solidFill>
                      <a:srgbClr val="17583E"/>
                    </a:solidFill>
                  </a:tcPr>
                </a:tc>
                <a:tc>
                  <a:txBody>
                    <a:bodyPr lIns="114300" tIns="114300" rIns="114300" bIns="114300">
                      <a:noAutofit/>
                    </a:bodyPr>
                    <a:lstStyle/>
                    <a:p>
                      <a:r>
                        <a:rPr sz="1875" b="1">
                          <a:solidFill>
                            <a:srgbClr val="FFFFFF"/>
                          </a:solidFill>
                          <a:latin typeface="DejaVu Sans"/>
                          <a:ea typeface="DejaVu Sans"/>
                          <a:cs typeface="DejaVu Sans"/>
                        </a:rPr>
                        <a:t>Người thực hiện</a:t>
                      </a:r>
                    </a:p>
                  </a:txBody>
                  <a:tcPr marL="91440" marR="91440" marT="45720" marB="45720" anchor="ctr">
                    <a:solidFill>
                      <a:srgbClr val="17583E"/>
                    </a:solidFill>
                  </a:tcPr>
                </a:tc>
              </a:tr>
              <a:tr h="552926">
                <a:tc>
                  <a:txBody>
                    <a:bodyPr lIns="114300" tIns="114300" rIns="114300" bIns="114300">
                      <a:noAutofit/>
                    </a:bodyPr>
                    <a:lstStyle/>
                    <a:p>
                      <a:r>
                        <a:rPr sz="1875" b="0">
                          <a:solidFill>
                            <a:srgbClr val="173729"/>
                          </a:solidFill>
                          <a:latin typeface="DejaVu Sans"/>
                          <a:ea typeface="DejaVu Sans"/>
                          <a:cs typeface="DejaVu Sans"/>
                        </a:rPr>
                        <a:t>Tại vườn</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Tạo lô và sinh QR</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Chủ vườn</a:t>
                      </a:r>
                    </a:p>
                  </a:txBody>
                  <a:tcPr marL="91440" marR="91440" marT="45720" marB="45720" anchor="ctr">
                    <a:solidFill>
                      <a:srgbClr val="FFFFFF"/>
                    </a:solidFill>
                  </a:tcPr>
                </a:tc>
              </a:tr>
              <a:tr h="552926">
                <a:tc>
                  <a:txBody>
                    <a:bodyPr lIns="114300" tIns="114300" rIns="114300" bIns="114300">
                      <a:noAutofit/>
                    </a:bodyPr>
                    <a:lstStyle/>
                    <a:p>
                      <a:r>
                        <a:rPr sz="1875" b="0">
                          <a:solidFill>
                            <a:srgbClr val="173729"/>
                          </a:solidFill>
                          <a:latin typeface="DejaVu Sans"/>
                          <a:ea typeface="DejaVu Sans"/>
                          <a:cs typeface="DejaVu Sans"/>
                        </a:rPr>
                        <a:t>Vận chuyển</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Xuất lô, ghi nhật ký</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Chủ vườn</a:t>
                      </a:r>
                    </a:p>
                  </a:txBody>
                  <a:tcPr marL="91440" marR="91440" marT="45720" marB="45720" anchor="ctr">
                    <a:solidFill>
                      <a:srgbClr val="EFF3EC"/>
                    </a:solidFill>
                  </a:tcPr>
                </a:tc>
              </a:tr>
              <a:tr h="552926">
                <a:tc>
                  <a:txBody>
                    <a:bodyPr lIns="114300" tIns="114300" rIns="114300" bIns="114300">
                      <a:noAutofit/>
                    </a:bodyPr>
                    <a:lstStyle/>
                    <a:p>
                      <a:r>
                        <a:rPr sz="1875" b="0">
                          <a:solidFill>
                            <a:srgbClr val="173729"/>
                          </a:solidFill>
                          <a:latin typeface="DejaVu Sans"/>
                          <a:ea typeface="DejaVu Sans"/>
                          <a:cs typeface="DejaVu Sans"/>
                        </a:rPr>
                        <a:t>Trong kho</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Quét nhận, gán người giữ</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Đại lý</a:t>
                      </a:r>
                    </a:p>
                  </a:txBody>
                  <a:tcPr marL="91440" marR="91440" marT="45720" marB="45720" anchor="ctr">
                    <a:solidFill>
                      <a:srgbClr val="FFFFFF"/>
                    </a:solidFill>
                  </a:tcPr>
                </a:tc>
              </a:tr>
              <a:tr h="552926">
                <a:tc>
                  <a:txBody>
                    <a:bodyPr lIns="114300" tIns="114300" rIns="114300" bIns="114300">
                      <a:noAutofit/>
                    </a:bodyPr>
                    <a:lstStyle/>
                    <a:p>
                      <a:r>
                        <a:rPr sz="1875" b="0">
                          <a:solidFill>
                            <a:srgbClr val="173729"/>
                          </a:solidFill>
                          <a:latin typeface="DejaVu Sans"/>
                          <a:ea typeface="DejaVu Sans"/>
                          <a:cs typeface="DejaVu Sans"/>
                        </a:rPr>
                        <a:t>Đã bán</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Chốt tiêu hao, ghi sự kiện</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Đại lý</a:t>
                      </a:r>
                    </a:p>
                  </a:txBody>
                  <a:tcPr marL="91440" marR="91440" marT="45720" marB="45720" anchor="ctr">
                    <a:solidFill>
                      <a:srgbClr val="EFF3EC"/>
                    </a:solidFill>
                  </a:tcPr>
                </a:tc>
              </a:tr>
            </a:tbl>
          </a:graphicData>
        </a:graphic>
      </p:graphicFrame>
      <p:pic>
        <p:nvPicPr>
          <p:cNvPr id="4" name="">
            <a:extLst xmlns:a="http://schemas.openxmlformats.org/drawingml/2006/main">
              <a:ext uri="{FF2B5EF4-FFF2-40B4-BE49-F238E27FC236}">
                <a16:creationId xmlns:a16="http://schemas.microsoft.com/office/drawing/2014/main" id="{D7C99D9C-0CA1-4B65-9AE7-3AD3C217BBDD}"/>
              </a:ext>
            </a:extLst>
          </p:cNvPr>
          <p:cNvPicPr>
            <a:picLocks xmlns:a="http://schemas.openxmlformats.org/drawingml/2006/main" noChangeAspect="1"/>
          </p:cNvPicPr>
          <p:nvPr/>
        </p:nvPicPr>
        <p:blipFill>
          <a:blip xmlns:r="http://schemas.openxmlformats.org/officeDocument/2006/relationships" xmlns:a="http://schemas.openxmlformats.org/drawingml/2006/main" r:embed="Ref50e2c10a104d55"/>
          <a:stretch xmlns:a="http://schemas.openxmlformats.org/drawingml/2006/main"/>
        </p:blipFill>
        <p:spPr>
          <a:xfrm xmlns:a="http://schemas.openxmlformats.org/drawingml/2006/main">
            <a:off x="9279731" y="2800298"/>
            <a:ext cx="1557338" cy="2398024"/>
          </a:xfrm>
          <a:prstGeom xmlns:a="http://schemas.openxmlformats.org/drawingml/2006/main" prst="rect">
            <a:avLst/>
          </a:prstGeom>
        </p:spPr>
      </p:pic>
      <p:sp>
        <p:nvSpPr>
          <p:cNvPr id="5" name="text-QR chỉ chứa lotId">
            <a:extLst xmlns:a="http://schemas.openxmlformats.org/drawingml/2006/main">
              <a:ext uri="{FF2B5EF4-FFF2-40B4-BE49-F238E27FC236}">
                <a16:creationId xmlns:a16="http://schemas.microsoft.com/office/drawing/2014/main" id="{B5D2FA14-B392-47C5-84E7-1DC216A6C31D}"/>
              </a:ext>
            </a:extLst>
          </p:cNvPr>
          <p:cNvSpPr>
            <a:spLocks xmlns:a="http://schemas.openxmlformats.org/drawingml/2006/main" noGrp="1"/>
          </p:cNvSpPr>
          <p:nvPr/>
        </p:nvSpPr>
        <p:spPr>
          <a:xfrm xmlns:a="http://schemas.openxmlformats.org/drawingml/2006/main">
            <a:off x="609600" y="5660231"/>
            <a:ext cx="7715250" cy="37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51" b="1">
                <a:solidFill>
                  <a:srgbClr val="17583E"/>
                </a:solidFill>
                <a:latin typeface="DejaVu Sans"/>
                <a:ea typeface="DejaVu Sans"/>
                <a:cs typeface="DejaVu Sans"/>
              </a:defRPr>
            </a:defPPr>
          </a:lstStyle>
          <a:p xmlns:a="http://schemas.openxmlformats.org/drawingml/2006/main">
            <a:pPr algn="l">
              <a:buNone/>
              <a:defRPr sz="2475" b="1">
                <a:solidFill>
                  <a:srgbClr val="17583E"/>
                </a:solidFill>
                <a:latin typeface="DejaVu Sans"/>
                <a:ea typeface="DejaVu Sans"/>
                <a:cs typeface="DejaVu Sans"/>
              </a:defRPr>
            </a:pPr>
            <a:r>
              <a:rPr sz="2351" b="1">
                <a:solidFill>
                  <a:srgbClr val="17583E"/>
                </a:solidFill>
                <a:latin typeface="DejaVu Sans"/>
                <a:ea typeface="DejaVu Sans"/>
                <a:cs typeface="DejaVu Sans"/>
              </a:rPr>
              <a:t>QR chỉ chứa lotId</a:t>
            </a:r>
          </a:p>
        </p:txBody>
      </p:sp>
      <p:sp>
        <p:nvSpPr>
          <p:cNvPr id="6" name="text-Ứng dụng đọc thông tin hiện ">
            <a:extLst xmlns:a="http://schemas.openxmlformats.org/drawingml/2006/main">
              <a:ext uri="{FF2B5EF4-FFF2-40B4-BE49-F238E27FC236}">
                <a16:creationId xmlns:a16="http://schemas.microsoft.com/office/drawing/2014/main" id="{48CF211E-83F3-4EE7-8299-64031D436050}"/>
              </a:ext>
            </a:extLst>
          </p:cNvPr>
          <p:cNvSpPr>
            <a:spLocks xmlns:a="http://schemas.openxmlformats.org/drawingml/2006/main" noGrp="1"/>
          </p:cNvSpPr>
          <p:nvPr/>
        </p:nvSpPr>
        <p:spPr>
          <a:xfrm xmlns:a="http://schemas.openxmlformats.org/drawingml/2006/main">
            <a:off x="609600" y="5995988"/>
            <a:ext cx="8763000" cy="2805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Ứng dụng đọc thông tin hiện tại từ Firebase</a:t>
            </a:r>
          </a:p>
        </p:txBody>
      </p:sp>
      <p:pic>
        <p:nvPicPr>
          <p:cNvPr id="8" name="">
            <a:extLst xmlns:a="http://schemas.openxmlformats.org/drawingml/2006/main">
              <a:ext uri="{FF2B5EF4-FFF2-40B4-BE49-F238E27FC236}">
                <a16:creationId xmlns:a16="http://schemas.microsoft.com/office/drawing/2014/main" id="{2A16FA50-65CB-459F-B79C-CBAAFFD60925}"/>
              </a:ext>
            </a:extLst>
          </p:cNvPr>
          <p:cNvPicPr>
            <a:picLocks xmlns:a="http://schemas.openxmlformats.org/drawingml/2006/main" noChangeAspect="1"/>
          </p:cNvPicPr>
          <p:nvPr/>
        </p:nvPicPr>
        <p:blipFill>
          <a:blip xmlns:r="http://schemas.openxmlformats.org/officeDocument/2006/relationships" xmlns:a="http://schemas.openxmlformats.org/drawingml/2006/main" r:embed="Rbb6563d07d584867"/>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307662006"/>
      </p:ext>
    </p:extLst>
  </p:cSld>
</p:sld>
</file>

<file path=ppt/slides/slide6.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12" name="text-Ứng dụng di động">
            <a:extLst xmlns:a="http://schemas.openxmlformats.org/drawingml/2006/main">
              <a:ext uri="{FF2B5EF4-FFF2-40B4-BE49-F238E27FC236}">
                <a16:creationId xmlns:a16="http://schemas.microsoft.com/office/drawing/2014/main" id="{C35736B8-024E-4C0F-8E78-74935D2800FD}"/>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Ứng dụng di động</a:t>
            </a:r>
          </a:p>
        </p:txBody>
      </p:sp>
      <p:sp>
        <p:nvSpPr>
          <p:cNvPr id="2" name="text-6">
            <a:extLst xmlns:a="http://schemas.openxmlformats.org/drawingml/2006/main">
              <a:ext uri="{FF2B5EF4-FFF2-40B4-BE49-F238E27FC236}">
                <a16:creationId xmlns:a16="http://schemas.microsoft.com/office/drawing/2014/main" id="{577CDF91-B2FB-461F-A924-4B855744D87E}"/>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6</a:t>
            </a:r>
          </a:p>
        </p:txBody>
      </p:sp>
      <p:pic>
        <p:nvPicPr>
          <p:cNvPr id="3" name="">
            <a:extLst xmlns:a="http://schemas.openxmlformats.org/drawingml/2006/main">
              <a:ext uri="{FF2B5EF4-FFF2-40B4-BE49-F238E27FC236}">
                <a16:creationId xmlns:a16="http://schemas.microsoft.com/office/drawing/2014/main" id="{67D34C8E-8DDB-4A98-9635-C406F68AD5FE}"/>
              </a:ext>
            </a:extLst>
          </p:cNvPr>
          <p:cNvPicPr>
            <a:picLocks xmlns:a="http://schemas.openxmlformats.org/drawingml/2006/main" noChangeAspect="1"/>
          </p:cNvPicPr>
          <p:nvPr/>
        </p:nvPicPr>
        <p:blipFill>
          <a:blip xmlns:r="http://schemas.openxmlformats.org/officeDocument/2006/relationships" xmlns:a="http://schemas.openxmlformats.org/drawingml/2006/main" r:embed="Rc518e3b4f0db4782"/>
          <a:stretch xmlns:a="http://schemas.openxmlformats.org/drawingml/2006/main"/>
        </p:blipFill>
        <p:spPr>
          <a:xfrm xmlns:a="http://schemas.openxmlformats.org/drawingml/2006/main">
            <a:off x="865584" y="2757313"/>
            <a:ext cx="1535906" cy="27054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736E8AA-F454-4C02-A36E-72AD52AA6252}"/>
              </a:ext>
            </a:extLst>
          </p:cNvPr>
          <p:cNvPicPr>
            <a:picLocks xmlns:a="http://schemas.openxmlformats.org/drawingml/2006/main" noChangeAspect="1"/>
          </p:cNvPicPr>
          <p:nvPr/>
        </p:nvPicPr>
        <p:blipFill>
          <a:blip xmlns:r="http://schemas.openxmlformats.org/officeDocument/2006/relationships" xmlns:a="http://schemas.openxmlformats.org/drawingml/2006/main" r:embed="R95414dda41994159"/>
          <a:stretch xmlns:a="http://schemas.openxmlformats.org/drawingml/2006/main"/>
        </p:blipFill>
        <p:spPr>
          <a:xfrm xmlns:a="http://schemas.openxmlformats.org/drawingml/2006/main">
            <a:off x="3227510" y="2752725"/>
            <a:ext cx="1517406" cy="271462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3AE2916-55CE-4FD7-A894-8A70D1C108F7}"/>
              </a:ext>
            </a:extLst>
          </p:cNvPr>
          <p:cNvPicPr>
            <a:picLocks xmlns:a="http://schemas.openxmlformats.org/drawingml/2006/main" noChangeAspect="1"/>
          </p:cNvPicPr>
          <p:nvPr/>
        </p:nvPicPr>
        <p:blipFill>
          <a:blip xmlns:r="http://schemas.openxmlformats.org/officeDocument/2006/relationships" xmlns:a="http://schemas.openxmlformats.org/drawingml/2006/main" r:embed="R577a20d1e0334164"/>
          <a:stretch xmlns:a="http://schemas.openxmlformats.org/drawingml/2006/main"/>
        </p:blipFill>
        <p:spPr>
          <a:xfrm xmlns:a="http://schemas.openxmlformats.org/drawingml/2006/main">
            <a:off x="5570934" y="2766119"/>
            <a:ext cx="1535906" cy="2687836"/>
          </a:xfrm>
          <a:prstGeom xmlns:a="http://schemas.openxmlformats.org/drawingml/2006/main" prst="rect">
            <a:avLst/>
          </a:prstGeom>
        </p:spPr>
      </p:pic>
      <p:sp>
        <p:nvSpPr>
          <p:cNvPr id="6" name="text-React Native và Expo">
            <a:extLst xmlns:a="http://schemas.openxmlformats.org/drawingml/2006/main">
              <a:ext uri="{FF2B5EF4-FFF2-40B4-BE49-F238E27FC236}">
                <a16:creationId xmlns:a16="http://schemas.microsoft.com/office/drawing/2014/main" id="{3FC410F6-66E2-45FD-A262-A543273725F9}"/>
              </a:ext>
            </a:extLst>
          </p:cNvPr>
          <p:cNvSpPr>
            <a:spLocks xmlns:a="http://schemas.openxmlformats.org/drawingml/2006/main" noGrp="1"/>
          </p:cNvSpPr>
          <p:nvPr/>
        </p:nvSpPr>
        <p:spPr>
          <a:xfrm xmlns:a="http://schemas.openxmlformats.org/drawingml/2006/main">
            <a:off x="7953375" y="2731294"/>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23" b="1">
                <a:solidFill>
                  <a:srgbClr val="173729"/>
                </a:solidFill>
                <a:latin typeface="DejaVu Sans"/>
                <a:ea typeface="DejaVu Sans"/>
                <a:cs typeface="DejaVu Sans"/>
              </a:defRPr>
            </a:defPPr>
          </a:lstStyle>
          <a:p xmlns:a="http://schemas.openxmlformats.org/drawingml/2006/main">
            <a:pPr algn="l">
              <a:buNone/>
              <a:defRPr sz="2550" b="1">
                <a:solidFill>
                  <a:srgbClr val="173729"/>
                </a:solidFill>
                <a:latin typeface="DejaVu Sans"/>
                <a:ea typeface="DejaVu Sans"/>
                <a:cs typeface="DejaVu Sans"/>
              </a:defRPr>
            </a:pPr>
            <a:r>
              <a:rPr sz="2423" b="1">
                <a:solidFill>
                  <a:srgbClr val="173729"/>
                </a:solidFill>
                <a:latin typeface="DejaVu Sans"/>
                <a:ea typeface="DejaVu Sans"/>
                <a:cs typeface="DejaVu Sans"/>
              </a:rPr>
              <a:t>React Native và Expo</a:t>
            </a:r>
          </a:p>
        </p:txBody>
      </p:sp>
      <p:sp>
        <p:nvSpPr>
          <p:cNvPr id="7" name="text-Điều hướng theo vai trò">
            <a:extLst xmlns:a="http://schemas.openxmlformats.org/drawingml/2006/main">
              <a:ext uri="{FF2B5EF4-FFF2-40B4-BE49-F238E27FC236}">
                <a16:creationId xmlns:a16="http://schemas.microsoft.com/office/drawing/2014/main" id="{B5F05861-72BA-4DD4-9ACF-37594D1F79B4}"/>
              </a:ext>
            </a:extLst>
          </p:cNvPr>
          <p:cNvSpPr>
            <a:spLocks xmlns:a="http://schemas.openxmlformats.org/drawingml/2006/main" noGrp="1"/>
          </p:cNvSpPr>
          <p:nvPr/>
        </p:nvSpPr>
        <p:spPr>
          <a:xfrm xmlns:a="http://schemas.openxmlformats.org/drawingml/2006/main">
            <a:off x="7953375" y="3645694"/>
            <a:ext cx="3619500"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Điều hướng theo vai trò</a:t>
            </a:r>
          </a:p>
        </p:txBody>
      </p:sp>
      <p:sp>
        <p:nvSpPr>
          <p:cNvPr id="8" name="text-Hai nhóm màn hình riêng&#10;cho ">
            <a:extLst xmlns:a="http://schemas.openxmlformats.org/drawingml/2006/main">
              <a:ext uri="{FF2B5EF4-FFF2-40B4-BE49-F238E27FC236}">
                <a16:creationId xmlns:a16="http://schemas.microsoft.com/office/drawing/2014/main" id="{1E9949D0-B7A8-4A0F-9701-8239B121CC73}"/>
              </a:ext>
            </a:extLst>
          </p:cNvPr>
          <p:cNvSpPr>
            <a:spLocks xmlns:a="http://schemas.openxmlformats.org/drawingml/2006/main" noGrp="1"/>
          </p:cNvSpPr>
          <p:nvPr/>
        </p:nvSpPr>
        <p:spPr>
          <a:xfrm xmlns:a="http://schemas.openxmlformats.org/drawingml/2006/main">
            <a:off x="7953375" y="4024313"/>
            <a:ext cx="3619500"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Hai nhóm màn hình riêng</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cho chủ vườn và đại lý</a:t>
            </a:r>
          </a:p>
        </p:txBody>
      </p:sp>
      <p:sp>
        <p:nvSpPr>
          <p:cNvPr id="9" name="text-Kiến trúc ba tầng">
            <a:extLst xmlns:a="http://schemas.openxmlformats.org/drawingml/2006/main">
              <a:ext uri="{FF2B5EF4-FFF2-40B4-BE49-F238E27FC236}">
                <a16:creationId xmlns:a16="http://schemas.microsoft.com/office/drawing/2014/main" id="{0526960C-B501-41C8-B630-8DDC6862E19D}"/>
              </a:ext>
            </a:extLst>
          </p:cNvPr>
          <p:cNvSpPr>
            <a:spLocks xmlns:a="http://schemas.openxmlformats.org/drawingml/2006/main" noGrp="1"/>
          </p:cNvSpPr>
          <p:nvPr/>
        </p:nvSpPr>
        <p:spPr>
          <a:xfrm xmlns:a="http://schemas.openxmlformats.org/drawingml/2006/main">
            <a:off x="7953375" y="4917281"/>
            <a:ext cx="3619500"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Kiến trúc ba tầng</a:t>
            </a:r>
          </a:p>
        </p:txBody>
      </p:sp>
      <p:sp>
        <p:nvSpPr>
          <p:cNvPr id="10" name="text-Màn hình, hook và service&#10;Lo">
            <a:extLst xmlns:a="http://schemas.openxmlformats.org/drawingml/2006/main">
              <a:ext uri="{FF2B5EF4-FFF2-40B4-BE49-F238E27FC236}">
                <a16:creationId xmlns:a16="http://schemas.microsoft.com/office/drawing/2014/main" id="{4D2CDA28-832C-4A25-923B-AACCD0228CBC}"/>
              </a:ext>
            </a:extLst>
          </p:cNvPr>
          <p:cNvSpPr>
            <a:spLocks xmlns:a="http://schemas.openxmlformats.org/drawingml/2006/main" noGrp="1"/>
          </p:cNvSpPr>
          <p:nvPr/>
        </p:nvSpPr>
        <p:spPr>
          <a:xfrm xmlns:a="http://schemas.openxmlformats.org/drawingml/2006/main">
            <a:off x="7953375" y="5295900"/>
            <a:ext cx="3619500"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Màn hình, hook và service</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Logic nghiệp vụ tách riêng</a:t>
            </a:r>
          </a:p>
        </p:txBody>
      </p:sp>
      <p:sp>
        <p:nvSpPr>
          <p:cNvPr id="11" name="text-Ảnh giao diện trong báo cáo">
            <a:extLst xmlns:a="http://schemas.openxmlformats.org/drawingml/2006/main">
              <a:ext uri="{FF2B5EF4-FFF2-40B4-BE49-F238E27FC236}">
                <a16:creationId xmlns:a16="http://schemas.microsoft.com/office/drawing/2014/main" id="{6B37E6DB-A8FF-4184-8FF6-8DD4866E87C9}"/>
              </a:ext>
            </a:extLst>
          </p:cNvPr>
          <p:cNvSpPr>
            <a:spLocks xmlns:a="http://schemas.openxmlformats.org/drawingml/2006/main" noGrp="1"/>
          </p:cNvSpPr>
          <p:nvPr/>
        </p:nvSpPr>
        <p:spPr>
          <a:xfrm xmlns:a="http://schemas.openxmlformats.org/drawingml/2006/main">
            <a:off x="609600" y="5860256"/>
            <a:ext cx="7096125"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68" b="0">
                <a:solidFill>
                  <a:srgbClr val="62746A"/>
                </a:solidFill>
                <a:latin typeface="DejaVu Sans"/>
                <a:ea typeface="DejaVu Sans"/>
                <a:cs typeface="DejaVu Sans"/>
              </a:defRPr>
            </a:defPPr>
          </a:lstStyle>
          <a:p xmlns:a="http://schemas.openxmlformats.org/drawingml/2006/main">
            <a:pPr algn="l">
              <a:buNone/>
              <a:defRPr sz="1650" b="0">
                <a:solidFill>
                  <a:srgbClr val="62746A"/>
                </a:solidFill>
                <a:latin typeface="DejaVu Sans"/>
                <a:ea typeface="DejaVu Sans"/>
                <a:cs typeface="DejaVu Sans"/>
              </a:defRPr>
            </a:pPr>
            <a:r>
              <a:rPr sz="1568" b="0">
                <a:solidFill>
                  <a:srgbClr val="62746A"/>
                </a:solidFill>
                <a:latin typeface="DejaVu Sans"/>
                <a:ea typeface="DejaVu Sans"/>
                <a:cs typeface="DejaVu Sans"/>
              </a:rPr>
              <a:t>Ảnh giao diện trong báo cáo</a:t>
            </a:r>
          </a:p>
        </p:txBody>
      </p:sp>
      <p:pic>
        <p:nvPicPr>
          <p:cNvPr id="13" name="">
            <a:extLst xmlns:a="http://schemas.openxmlformats.org/drawingml/2006/main">
              <a:ext uri="{FF2B5EF4-FFF2-40B4-BE49-F238E27FC236}">
                <a16:creationId xmlns:a16="http://schemas.microsoft.com/office/drawing/2014/main" id="{9B75B134-8008-42EB-8C35-01DA77F3DCCF}"/>
              </a:ext>
            </a:extLst>
          </p:cNvPr>
          <p:cNvPicPr>
            <a:picLocks xmlns:a="http://schemas.openxmlformats.org/drawingml/2006/main" noChangeAspect="1"/>
          </p:cNvPicPr>
          <p:nvPr/>
        </p:nvPicPr>
        <p:blipFill>
          <a:blip xmlns:r="http://schemas.openxmlformats.org/officeDocument/2006/relationships" xmlns:a="http://schemas.openxmlformats.org/drawingml/2006/main" r:embed="R81859f55cc224f5d"/>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001600613"/>
      </p:ext>
    </p:extLst>
  </p:cSld>
</p:sld>
</file>

<file path=ppt/slides/slide7.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9" name="text-Firebase và quản lý dữ liệu">
            <a:extLst xmlns:a="http://schemas.openxmlformats.org/drawingml/2006/main">
              <a:ext uri="{FF2B5EF4-FFF2-40B4-BE49-F238E27FC236}">
                <a16:creationId xmlns:a16="http://schemas.microsoft.com/office/drawing/2014/main" id="{844D6829-8C2D-48E8-8714-0928ABA310BA}"/>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Firebase và quản lý dữ liệu</a:t>
            </a:r>
          </a:p>
        </p:txBody>
      </p:sp>
      <p:sp>
        <p:nvSpPr>
          <p:cNvPr id="2" name="text-7">
            <a:extLst xmlns:a="http://schemas.openxmlformats.org/drawingml/2006/main">
              <a:ext uri="{FF2B5EF4-FFF2-40B4-BE49-F238E27FC236}">
                <a16:creationId xmlns:a16="http://schemas.microsoft.com/office/drawing/2014/main" id="{0883E138-2C20-436F-91F2-62F17B11DD95}"/>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7</a:t>
            </a:r>
          </a:p>
        </p:txBody>
      </p:sp>
      <p:graphicFrame>
        <p:nvGraphicFramePr>
          <p:cNvPr id="3" name="">
            <a:extLst xmlns:a="http://schemas.openxmlformats.org/drawingml/2006/main">
              <a:ext uri="{FF2B5EF4-FFF2-40B4-BE49-F238E27FC236}">
                <a16:creationId xmlns:a16="http://schemas.microsoft.com/office/drawing/2014/main" id="{82DF379F-FA04-4D32-BBE7-C51C2F9CDC81}"/>
              </a:ext>
            </a:extLst>
          </p:cNvPr>
          <p:cNvGraphicFramePr/>
          <p:nvPr/>
        </p:nvGraphicFramePr>
        <p:xfrm>
          <a:off xmlns:a="http://schemas.openxmlformats.org/drawingml/2006/main" x="609600" y="2631281"/>
          <a:ext xmlns:a="http://schemas.openxmlformats.org/drawingml/2006/main" cx="7067550" cy="2836069"/>
        </p:xfrm>
        <a:graphic xmlns:a="http://schemas.openxmlformats.org/drawingml/2006/main">
          <a:graphicData uri="http://schemas.openxmlformats.org/drawingml/2006/table">
            <a:tbl>
              <a:tblPr/>
              <a:tblGrid>
                <a:gridCol w="2000250"/>
                <a:gridCol w="5067300"/>
              </a:tblGrid>
              <a:tr h="472679">
                <a:tc>
                  <a:txBody>
                    <a:bodyPr lIns="114300" tIns="114300" rIns="114300" bIns="114300">
                      <a:noAutofit/>
                    </a:bodyPr>
                    <a:lstStyle/>
                    <a:p>
                      <a:r>
                        <a:rPr sz="1875" b="1">
                          <a:solidFill>
                            <a:srgbClr val="FFFFFF"/>
                          </a:solidFill>
                          <a:latin typeface="DejaVu Sans"/>
                          <a:ea typeface="DejaVu Sans"/>
                          <a:cs typeface="DejaVu Sans"/>
                        </a:rPr>
                        <a:t>Nhánh</a:t>
                      </a:r>
                    </a:p>
                  </a:txBody>
                  <a:tcPr marL="91440" marR="91440" marT="45720" marB="45720" anchor="ctr">
                    <a:solidFill>
                      <a:srgbClr val="17583E"/>
                    </a:solidFill>
                  </a:tcPr>
                </a:tc>
                <a:tc>
                  <a:txBody>
                    <a:bodyPr lIns="114300" tIns="114300" rIns="114300" bIns="114300">
                      <a:noAutofit/>
                    </a:bodyPr>
                    <a:lstStyle/>
                    <a:p>
                      <a:r>
                        <a:rPr sz="1875" b="1">
                          <a:solidFill>
                            <a:srgbClr val="FFFFFF"/>
                          </a:solidFill>
                          <a:latin typeface="DejaVu Sans"/>
                          <a:ea typeface="DejaVu Sans"/>
                          <a:cs typeface="DejaVu Sans"/>
                        </a:rPr>
                        <a:t>Nội dung</a:t>
                      </a:r>
                    </a:p>
                  </a:txBody>
                  <a:tcPr marL="91440" marR="91440" marT="45720" marB="45720" anchor="ctr">
                    <a:solidFill>
                      <a:srgbClr val="17583E"/>
                    </a:solidFill>
                  </a:tcPr>
                </a:tc>
              </a:tr>
              <a:tr h="472679">
                <a:tc>
                  <a:txBody>
                    <a:bodyPr lIns="114300" tIns="114300" rIns="114300" bIns="114300">
                      <a:noAutofit/>
                    </a:bodyPr>
                    <a:lstStyle/>
                    <a:p>
                      <a:r>
                        <a:rPr sz="1875" b="0">
                          <a:solidFill>
                            <a:srgbClr val="173729"/>
                          </a:solidFill>
                          <a:latin typeface="DejaVu Sans"/>
                          <a:ea typeface="DejaVu Sans"/>
                          <a:cs typeface="DejaVu Sans"/>
                        </a:rPr>
                        <a:t>users</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Tài khoản và vai trò</a:t>
                      </a:r>
                    </a:p>
                  </a:txBody>
                  <a:tcPr marL="91440" marR="91440" marT="45720" marB="45720" anchor="ctr">
                    <a:solidFill>
                      <a:srgbClr val="FFFFFF"/>
                    </a:solidFill>
                  </a:tcPr>
                </a:tc>
              </a:tr>
              <a:tr h="472679">
                <a:tc>
                  <a:txBody>
                    <a:bodyPr lIns="114300" tIns="114300" rIns="114300" bIns="114300">
                      <a:noAutofit/>
                    </a:bodyPr>
                    <a:lstStyle/>
                    <a:p>
                      <a:r>
                        <a:rPr sz="1875" b="0">
                          <a:solidFill>
                            <a:srgbClr val="173729"/>
                          </a:solidFill>
                          <a:latin typeface="DejaVu Sans"/>
                          <a:ea typeface="DejaVu Sans"/>
                          <a:cs typeface="DejaVu Sans"/>
                        </a:rPr>
                        <a:t>lots</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Lô, người giữ, trạng thái và nhật ký</a:t>
                      </a:r>
                    </a:p>
                  </a:txBody>
                  <a:tcPr marL="91440" marR="91440" marT="45720" marB="45720" anchor="ctr">
                    <a:solidFill>
                      <a:srgbClr val="EFF3EC"/>
                    </a:solidFill>
                  </a:tcPr>
                </a:tc>
              </a:tr>
              <a:tr h="472679">
                <a:tc>
                  <a:txBody>
                    <a:bodyPr lIns="114300" tIns="114300" rIns="114300" bIns="114300">
                      <a:noAutofit/>
                    </a:bodyPr>
                    <a:lstStyle/>
                    <a:p>
                      <a:r>
                        <a:rPr sz="1875" b="0">
                          <a:solidFill>
                            <a:srgbClr val="173729"/>
                          </a:solidFill>
                          <a:latin typeface="DejaVu Sans"/>
                          <a:ea typeface="DejaVu Sans"/>
                          <a:cs typeface="DejaVu Sans"/>
                        </a:rPr>
                        <a:t>stations</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Nhiệt độ, độ ẩm và thời điểm đo</a:t>
                      </a:r>
                    </a:p>
                  </a:txBody>
                  <a:tcPr marL="91440" marR="91440" marT="45720" marB="45720" anchor="ctr">
                    <a:solidFill>
                      <a:srgbClr val="FFFFFF"/>
                    </a:solidFill>
                  </a:tcPr>
                </a:tc>
              </a:tr>
              <a:tr h="472679">
                <a:tc>
                  <a:txBody>
                    <a:bodyPr lIns="114300" tIns="114300" rIns="114300" bIns="114300">
                      <a:noAutofit/>
                    </a:bodyPr>
                    <a:lstStyle/>
                    <a:p>
                      <a:r>
                        <a:rPr sz="1875" b="0">
                          <a:solidFill>
                            <a:srgbClr val="173729"/>
                          </a:solidFill>
                          <a:latin typeface="DejaVu Sans"/>
                          <a:ea typeface="DejaVu Sans"/>
                          <a:cs typeface="DejaVu Sans"/>
                        </a:rPr>
                        <a:t>alerts</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Cảnh báo theo người liên quan</a:t>
                      </a:r>
                    </a:p>
                  </a:txBody>
                  <a:tcPr marL="91440" marR="91440" marT="45720" marB="45720" anchor="ctr">
                    <a:solidFill>
                      <a:srgbClr val="EFF3EC"/>
                    </a:solidFill>
                  </a:tcPr>
                </a:tc>
              </a:tr>
              <a:tr h="472679">
                <a:tc>
                  <a:txBody>
                    <a:bodyPr lIns="114300" tIns="114300" rIns="114300" bIns="114300">
                      <a:noAutofit/>
                    </a:bodyPr>
                    <a:lstStyle/>
                    <a:p>
                      <a:r>
                        <a:rPr sz="1875" b="0">
                          <a:solidFill>
                            <a:srgbClr val="173729"/>
                          </a:solidFill>
                          <a:latin typeface="DejaVu Sans"/>
                          <a:ea typeface="DejaVu Sans"/>
                          <a:cs typeface="DejaVu Sans"/>
                        </a:rPr>
                        <a:t>config</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Tham số hạn cơ sở và bảo quản</a:t>
                      </a:r>
                    </a:p>
                  </a:txBody>
                  <a:tcPr marL="91440" marR="91440" marT="45720" marB="45720" anchor="ctr">
                    <a:solidFill>
                      <a:srgbClr val="FFFFFF"/>
                    </a:solidFill>
                  </a:tcPr>
                </a:tc>
              </a:tr>
            </a:tbl>
          </a:graphicData>
        </a:graphic>
      </p:graphicFrame>
      <p:sp>
        <p:nvSpPr>
          <p:cNvPr id="4" name="text-Authentication">
            <a:extLst xmlns:a="http://schemas.openxmlformats.org/drawingml/2006/main">
              <a:ext uri="{FF2B5EF4-FFF2-40B4-BE49-F238E27FC236}">
                <a16:creationId xmlns:a16="http://schemas.microsoft.com/office/drawing/2014/main" id="{E91E4D97-5E17-46FF-A0C3-E1248DA57D5B}"/>
              </a:ext>
            </a:extLst>
          </p:cNvPr>
          <p:cNvSpPr>
            <a:spLocks xmlns:a="http://schemas.openxmlformats.org/drawingml/2006/main" noGrp="1"/>
          </p:cNvSpPr>
          <p:nvPr/>
        </p:nvSpPr>
        <p:spPr>
          <a:xfrm xmlns:a="http://schemas.openxmlformats.org/drawingml/2006/main">
            <a:off x="8258175" y="2688431"/>
            <a:ext cx="328612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Authentication</a:t>
            </a:r>
          </a:p>
        </p:txBody>
      </p:sp>
      <p:sp>
        <p:nvSpPr>
          <p:cNvPr id="5" name="text-Xác thực tài khoản&#10;và liên k">
            <a:extLst xmlns:a="http://schemas.openxmlformats.org/drawingml/2006/main">
              <a:ext uri="{FF2B5EF4-FFF2-40B4-BE49-F238E27FC236}">
                <a16:creationId xmlns:a16="http://schemas.microsoft.com/office/drawing/2014/main" id="{0369470E-6BCE-4016-8E2F-D6E8B2C95CF6}"/>
              </a:ext>
            </a:extLst>
          </p:cNvPr>
          <p:cNvSpPr>
            <a:spLocks xmlns:a="http://schemas.openxmlformats.org/drawingml/2006/main" noGrp="1"/>
          </p:cNvSpPr>
          <p:nvPr/>
        </p:nvSpPr>
        <p:spPr>
          <a:xfrm xmlns:a="http://schemas.openxmlformats.org/drawingml/2006/main">
            <a:off x="8258175" y="3067050"/>
            <a:ext cx="328612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Xác thực tài khoản</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và liên kết dữ liệu bằng UID</a:t>
            </a:r>
          </a:p>
        </p:txBody>
      </p:sp>
      <p:sp>
        <p:nvSpPr>
          <p:cNvPr id="6" name="text-Security Rules">
            <a:extLst xmlns:a="http://schemas.openxmlformats.org/drawingml/2006/main">
              <a:ext uri="{FF2B5EF4-FFF2-40B4-BE49-F238E27FC236}">
                <a16:creationId xmlns:a16="http://schemas.microsoft.com/office/drawing/2014/main" id="{0A1E334D-05C3-42B8-9C4D-F4D714BE7EE3}"/>
              </a:ext>
            </a:extLst>
          </p:cNvPr>
          <p:cNvSpPr>
            <a:spLocks xmlns:a="http://schemas.openxmlformats.org/drawingml/2006/main" noGrp="1"/>
          </p:cNvSpPr>
          <p:nvPr/>
        </p:nvSpPr>
        <p:spPr>
          <a:xfrm xmlns:a="http://schemas.openxmlformats.org/drawingml/2006/main">
            <a:off x="8258175" y="3967163"/>
            <a:ext cx="328612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Security Rules</a:t>
            </a:r>
          </a:p>
        </p:txBody>
      </p:sp>
      <p:sp>
        <p:nvSpPr>
          <p:cNvPr id="7" name="text-Giới hạn quyền đọc ghi&#10;theo ">
            <a:extLst xmlns:a="http://schemas.openxmlformats.org/drawingml/2006/main">
              <a:ext uri="{FF2B5EF4-FFF2-40B4-BE49-F238E27FC236}">
                <a16:creationId xmlns:a16="http://schemas.microsoft.com/office/drawing/2014/main" id="{52339699-3DC3-40D2-BECB-55CE6A52B652}"/>
              </a:ext>
            </a:extLst>
          </p:cNvPr>
          <p:cNvSpPr>
            <a:spLocks xmlns:a="http://schemas.openxmlformats.org/drawingml/2006/main" noGrp="1"/>
          </p:cNvSpPr>
          <p:nvPr/>
        </p:nvSpPr>
        <p:spPr>
          <a:xfrm xmlns:a="http://schemas.openxmlformats.org/drawingml/2006/main">
            <a:off x="8258175" y="4345781"/>
            <a:ext cx="328612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Giới hạn quyền đọc ghi</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theo truy vấn và người dùng</a:t>
            </a:r>
          </a:p>
        </p:txBody>
      </p:sp>
      <p:sp>
        <p:nvSpPr>
          <p:cNvPr id="8" name="text-Listener cập nhật giao diện ">
            <a:extLst xmlns:a="http://schemas.openxmlformats.org/drawingml/2006/main">
              <a:ext uri="{FF2B5EF4-FFF2-40B4-BE49-F238E27FC236}">
                <a16:creationId xmlns:a16="http://schemas.microsoft.com/office/drawing/2014/main" id="{99F4C121-32C0-406D-8483-05355C28BD9C}"/>
              </a:ext>
            </a:extLst>
          </p:cNvPr>
          <p:cNvSpPr>
            <a:spLocks xmlns:a="http://schemas.openxmlformats.org/drawingml/2006/main" noGrp="1"/>
          </p:cNvSpPr>
          <p:nvPr/>
        </p:nvSpPr>
        <p:spPr>
          <a:xfrm xmlns:a="http://schemas.openxmlformats.org/drawingml/2006/main">
            <a:off x="609600" y="5788819"/>
            <a:ext cx="10972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1">
                <a:solidFill>
                  <a:srgbClr val="17583E"/>
                </a:solidFill>
                <a:latin typeface="DejaVu Sans"/>
                <a:ea typeface="DejaVu Sans"/>
                <a:cs typeface="DejaVu Sans"/>
              </a:defRPr>
            </a:defPPr>
          </a:lstStyle>
          <a:p xmlns:a="http://schemas.openxmlformats.org/drawingml/2006/main">
            <a:pPr algn="l">
              <a:buNone/>
              <a:defRPr sz="2175" b="1">
                <a:solidFill>
                  <a:srgbClr val="17583E"/>
                </a:solidFill>
                <a:latin typeface="DejaVu Sans"/>
                <a:ea typeface="DejaVu Sans"/>
                <a:cs typeface="DejaVu Sans"/>
              </a:defRPr>
            </a:pPr>
            <a:r>
              <a:rPr sz="2066" b="1">
                <a:solidFill>
                  <a:srgbClr val="17583E"/>
                </a:solidFill>
                <a:latin typeface="DejaVu Sans"/>
                <a:ea typeface="DejaVu Sans"/>
                <a:cs typeface="DejaVu Sans"/>
              </a:rPr>
              <a:t>Listener cập nhật giao diện khi dữ liệu thay đổi</a:t>
            </a:r>
          </a:p>
        </p:txBody>
      </p:sp>
      <p:pic>
        <p:nvPicPr>
          <p:cNvPr id="10" name="">
            <a:extLst xmlns:a="http://schemas.openxmlformats.org/drawingml/2006/main">
              <a:ext uri="{FF2B5EF4-FFF2-40B4-BE49-F238E27FC236}">
                <a16:creationId xmlns:a16="http://schemas.microsoft.com/office/drawing/2014/main" id="{6894A0C5-6DFC-406C-9831-EF3B9EA0A8BD}"/>
              </a:ext>
            </a:extLst>
          </p:cNvPr>
          <p:cNvPicPr>
            <a:picLocks xmlns:a="http://schemas.openxmlformats.org/drawingml/2006/main" noChangeAspect="1"/>
          </p:cNvPicPr>
          <p:nvPr/>
        </p:nvPicPr>
        <p:blipFill>
          <a:blip xmlns:r="http://schemas.openxmlformats.org/officeDocument/2006/relationships" xmlns:a="http://schemas.openxmlformats.org/drawingml/2006/main" r:embed="Rfc01faad0a0b495b"/>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869600817"/>
      </p:ext>
    </p:extLst>
  </p:cSld>
</p:sld>
</file>

<file path=ppt/slides/slide8.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11" name="text-Nhận diện AI trên điện thoại">
            <a:extLst xmlns:a="http://schemas.openxmlformats.org/drawingml/2006/main">
              <a:ext uri="{FF2B5EF4-FFF2-40B4-BE49-F238E27FC236}">
                <a16:creationId xmlns:a16="http://schemas.microsoft.com/office/drawing/2014/main" id="{C3814B15-6ED2-4BAA-839E-0D7FBB38612A}"/>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Nhận diện AI trên điện thoại</a:t>
            </a:r>
          </a:p>
        </p:txBody>
      </p:sp>
      <p:sp>
        <p:nvSpPr>
          <p:cNvPr id="2" name="text-8">
            <a:extLst xmlns:a="http://schemas.openxmlformats.org/drawingml/2006/main">
              <a:ext uri="{FF2B5EF4-FFF2-40B4-BE49-F238E27FC236}">
                <a16:creationId xmlns:a16="http://schemas.microsoft.com/office/drawing/2014/main" id="{55A1B009-FC2A-4FE7-98E8-1A7764ABA820}"/>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8</a:t>
            </a:r>
          </a:p>
        </p:txBody>
      </p:sp>
      <p:sp>
        <p:nvSpPr>
          <p:cNvPr id="3" name="text-MobileNetV2, 10 lớp">
            <a:extLst xmlns:a="http://schemas.openxmlformats.org/drawingml/2006/main">
              <a:ext uri="{FF2B5EF4-FFF2-40B4-BE49-F238E27FC236}">
                <a16:creationId xmlns:a16="http://schemas.microsoft.com/office/drawing/2014/main" id="{06206448-9B41-4B71-85B0-3359A5E8F99D}"/>
              </a:ext>
            </a:extLst>
          </p:cNvPr>
          <p:cNvSpPr>
            <a:spLocks xmlns:a="http://schemas.openxmlformats.org/drawingml/2006/main" noGrp="1"/>
          </p:cNvSpPr>
          <p:nvPr/>
        </p:nvSpPr>
        <p:spPr>
          <a:xfrm xmlns:a="http://schemas.openxmlformats.org/drawingml/2006/main">
            <a:off x="609600" y="2588419"/>
            <a:ext cx="6572250" cy="403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65" b="1">
                <a:solidFill>
                  <a:srgbClr val="173729"/>
                </a:solidFill>
                <a:latin typeface="DejaVu Sans"/>
                <a:ea typeface="DejaVu Sans"/>
                <a:cs typeface="DejaVu Sans"/>
              </a:defRPr>
            </a:defPPr>
          </a:lstStyle>
          <a:p xmlns:a="http://schemas.openxmlformats.org/drawingml/2006/main">
            <a:pPr algn="l">
              <a:buNone/>
              <a:defRPr sz="2700" b="1">
                <a:solidFill>
                  <a:srgbClr val="173729"/>
                </a:solidFill>
                <a:latin typeface="DejaVu Sans"/>
                <a:ea typeface="DejaVu Sans"/>
                <a:cs typeface="DejaVu Sans"/>
              </a:defRPr>
            </a:pPr>
            <a:r>
              <a:rPr sz="2565" b="1">
                <a:solidFill>
                  <a:srgbClr val="173729"/>
                </a:solidFill>
                <a:latin typeface="DejaVu Sans"/>
                <a:ea typeface="DejaVu Sans"/>
                <a:cs typeface="DejaVu Sans"/>
              </a:rPr>
              <a:t>MobileNetV2, 10 lớp</a:t>
            </a:r>
          </a:p>
        </p:txBody>
      </p:sp>
      <p:sp>
        <p:nvSpPr>
          <p:cNvPr id="4" name="text-Kích thước mô hình sau lượng">
            <a:extLst xmlns:a="http://schemas.openxmlformats.org/drawingml/2006/main">
              <a:ext uri="{FF2B5EF4-FFF2-40B4-BE49-F238E27FC236}">
                <a16:creationId xmlns:a16="http://schemas.microsoft.com/office/drawing/2014/main" id="{43735E2A-8653-4BE1-AE84-F87DBEC05695}"/>
              </a:ext>
            </a:extLst>
          </p:cNvPr>
          <p:cNvSpPr>
            <a:spLocks xmlns:a="http://schemas.openxmlformats.org/drawingml/2006/main" noGrp="1"/>
          </p:cNvSpPr>
          <p:nvPr/>
        </p:nvSpPr>
        <p:spPr>
          <a:xfrm xmlns:a="http://schemas.openxmlformats.org/drawingml/2006/main">
            <a:off x="609600" y="3102769"/>
            <a:ext cx="633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Kích thước mô hình sau lượng tử hóa</a:t>
            </a:r>
          </a:p>
        </p:txBody>
      </p:sp>
      <p:graphicFrame>
        <p:nvGraphicFramePr>
          <p:cNvPr id="5" name="Chart">
            <a:extLst xmlns:a="http://schemas.openxmlformats.org/drawingml/2006/main">
              <a:ext uri="{FF2B5EF4-FFF2-40B4-BE49-F238E27FC236}">
                <a16:creationId xmlns:a16="http://schemas.microsoft.com/office/drawing/2014/main" id="{C46E726E-3BDB-4778-9BF4-EE028A0FAAF5}"/>
              </a:ext>
            </a:extLst>
          </p:cNvPr>
          <p:cNvGraphicFramePr/>
          <p:nvPr/>
        </p:nvGraphicFramePr>
        <p:xfrm>
          <a:off xmlns:a="http://schemas.openxmlformats.org/drawingml/2006/main" x="609600" y="3495675"/>
          <a:ext xmlns:a="http://schemas.openxmlformats.org/drawingml/2006/main" cx="6353175" cy="2007394"/>
        </p:xfrm>
        <a:graphic xmlns:a="http://schemas.openxmlformats.org/drawingml/2006/main">
          <a:graphicData uri="http://schemas.openxmlformats.org/drawingml/2006/chart">
            <c:chart xmlns:r="http://schemas.openxmlformats.org/officeDocument/2006/relationships" xmlns:c="http://schemas.openxmlformats.org/drawingml/2006/chart" r:id="R57a58fb15dae4382"/>
          </a:graphicData>
        </a:graphic>
      </p:graphicFrame>
      <p:sp>
        <p:nvSpPr>
          <p:cNvPr id="6" name="text-95,94%">
            <a:extLst xmlns:a="http://schemas.openxmlformats.org/drawingml/2006/main">
              <a:ext uri="{FF2B5EF4-FFF2-40B4-BE49-F238E27FC236}">
                <a16:creationId xmlns:a16="http://schemas.microsoft.com/office/drawing/2014/main" id="{1563464E-93AE-4B85-AD0B-0B7D509CF5E1}"/>
              </a:ext>
            </a:extLst>
          </p:cNvPr>
          <p:cNvSpPr>
            <a:spLocks xmlns:a="http://schemas.openxmlformats.org/drawingml/2006/main" noGrp="1"/>
          </p:cNvSpPr>
          <p:nvPr/>
        </p:nvSpPr>
        <p:spPr>
          <a:xfrm xmlns:a="http://schemas.openxmlformats.org/drawingml/2006/main">
            <a:off x="7934325" y="2616994"/>
            <a:ext cx="333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36" b="1">
                <a:solidFill>
                  <a:srgbClr val="17583E"/>
                </a:solidFill>
                <a:latin typeface="DejaVu Sans"/>
                <a:ea typeface="DejaVu Sans"/>
                <a:cs typeface="DejaVu Sans"/>
              </a:defRPr>
            </a:defPPr>
          </a:lstStyle>
          <a:p xmlns:a="http://schemas.openxmlformats.org/drawingml/2006/main">
            <a:pPr algn="l">
              <a:buNone/>
              <a:defRPr sz="4800" b="1">
                <a:solidFill>
                  <a:srgbClr val="17583E"/>
                </a:solidFill>
                <a:latin typeface="DejaVu Sans"/>
                <a:ea typeface="DejaVu Sans"/>
                <a:cs typeface="DejaVu Sans"/>
              </a:defRPr>
            </a:pPr>
            <a:r>
              <a:rPr sz="3936" b="1">
                <a:solidFill>
                  <a:srgbClr val="17583E"/>
                </a:solidFill>
                <a:latin typeface="DejaVu Sans"/>
                <a:ea typeface="DejaVu Sans"/>
                <a:cs typeface="DejaVu Sans"/>
              </a:rPr>
              <a:t>95,94%</a:t>
            </a:r>
          </a:p>
        </p:txBody>
      </p:sp>
      <p:sp>
        <p:nvSpPr>
          <p:cNvPr id="7" name="text-Accuracy INT8 trên tập test">
            <a:extLst xmlns:a="http://schemas.openxmlformats.org/drawingml/2006/main">
              <a:ext uri="{FF2B5EF4-FFF2-40B4-BE49-F238E27FC236}">
                <a16:creationId xmlns:a16="http://schemas.microsoft.com/office/drawing/2014/main" id="{1CAF1787-A842-42B3-A210-1C65C93F9311}"/>
              </a:ext>
            </a:extLst>
          </p:cNvPr>
          <p:cNvSpPr>
            <a:spLocks xmlns:a="http://schemas.openxmlformats.org/drawingml/2006/main" noGrp="1"/>
          </p:cNvSpPr>
          <p:nvPr/>
        </p:nvSpPr>
        <p:spPr>
          <a:xfrm xmlns:a="http://schemas.openxmlformats.org/drawingml/2006/main">
            <a:off x="7934325" y="3338513"/>
            <a:ext cx="3476625"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Accuracy INT8 trên tập test</a:t>
            </a:r>
          </a:p>
        </p:txBody>
      </p:sp>
      <p:sp>
        <p:nvSpPr>
          <p:cNvPr id="8" name="text-30–95 ms">
            <a:extLst xmlns:a="http://schemas.openxmlformats.org/drawingml/2006/main">
              <a:ext uri="{FF2B5EF4-FFF2-40B4-BE49-F238E27FC236}">
                <a16:creationId xmlns:a16="http://schemas.microsoft.com/office/drawing/2014/main" id="{724EB4A7-9928-4923-87E9-19A26F20E6A5}"/>
              </a:ext>
            </a:extLst>
          </p:cNvPr>
          <p:cNvSpPr>
            <a:spLocks xmlns:a="http://schemas.openxmlformats.org/drawingml/2006/main" noGrp="1"/>
          </p:cNvSpPr>
          <p:nvPr/>
        </p:nvSpPr>
        <p:spPr>
          <a:xfrm xmlns:a="http://schemas.openxmlformats.org/drawingml/2006/main">
            <a:off x="7934325" y="4152900"/>
            <a:ext cx="3524250"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52" b="1">
                <a:solidFill>
                  <a:srgbClr val="17583E"/>
                </a:solidFill>
                <a:latin typeface="DejaVu Sans"/>
                <a:ea typeface="DejaVu Sans"/>
                <a:cs typeface="DejaVu Sans"/>
              </a:defRPr>
            </a:defPPr>
          </a:lstStyle>
          <a:p xmlns:a="http://schemas.openxmlformats.org/drawingml/2006/main">
            <a:pPr algn="l">
              <a:buNone/>
              <a:defRPr sz="3600" b="1">
                <a:solidFill>
                  <a:srgbClr val="17583E"/>
                </a:solidFill>
                <a:latin typeface="DejaVu Sans"/>
                <a:ea typeface="DejaVu Sans"/>
                <a:cs typeface="DejaVu Sans"/>
              </a:defRPr>
            </a:pPr>
            <a:r>
              <a:rPr sz="2952" b="1">
                <a:solidFill>
                  <a:srgbClr val="17583E"/>
                </a:solidFill>
                <a:latin typeface="DejaVu Sans"/>
                <a:ea typeface="DejaVu Sans"/>
                <a:cs typeface="DejaVu Sans"/>
              </a:rPr>
              <a:t>30–95 ms</a:t>
            </a:r>
          </a:p>
        </p:txBody>
      </p:sp>
      <p:sp>
        <p:nvSpPr>
          <p:cNvPr id="9" name="text-Suy luận một ảnh trên&#10;điện t">
            <a:extLst xmlns:a="http://schemas.openxmlformats.org/drawingml/2006/main">
              <a:ext uri="{FF2B5EF4-FFF2-40B4-BE49-F238E27FC236}">
                <a16:creationId xmlns:a16="http://schemas.microsoft.com/office/drawing/2014/main" id="{15FD757C-C8A4-491A-968A-D3730050EF92}"/>
              </a:ext>
            </a:extLst>
          </p:cNvPr>
          <p:cNvSpPr>
            <a:spLocks xmlns:a="http://schemas.openxmlformats.org/drawingml/2006/main" noGrp="1"/>
          </p:cNvSpPr>
          <p:nvPr/>
        </p:nvSpPr>
        <p:spPr>
          <a:xfrm xmlns:a="http://schemas.openxmlformats.org/drawingml/2006/main">
            <a:off x="7934325" y="4802981"/>
            <a:ext cx="352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Suy luận một ảnh trên</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điện thoại thử nghiệm</a:t>
            </a:r>
          </a:p>
        </p:txBody>
      </p:sp>
      <p:sp>
        <p:nvSpPr>
          <p:cNvPr id="10" name="text-Ảnh thực tế còn chịu ảnh hưở">
            <a:extLst xmlns:a="http://schemas.openxmlformats.org/drawingml/2006/main">
              <a:ext uri="{FF2B5EF4-FFF2-40B4-BE49-F238E27FC236}">
                <a16:creationId xmlns:a16="http://schemas.microsoft.com/office/drawing/2014/main" id="{C21A4C31-D3D8-4775-B197-86944506F890}"/>
              </a:ext>
            </a:extLst>
          </p:cNvPr>
          <p:cNvSpPr>
            <a:spLocks xmlns:a="http://schemas.openxmlformats.org/drawingml/2006/main" noGrp="1"/>
          </p:cNvSpPr>
          <p:nvPr/>
        </p:nvSpPr>
        <p:spPr>
          <a:xfrm xmlns:a="http://schemas.openxmlformats.org/drawingml/2006/main">
            <a:off x="609600" y="5881688"/>
            <a:ext cx="109728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B76817"/>
                </a:solidFill>
                <a:latin typeface="DejaVu Sans"/>
                <a:ea typeface="DejaVu Sans"/>
                <a:cs typeface="DejaVu Sans"/>
              </a:defRPr>
            </a:defPPr>
          </a:lstStyle>
          <a:p xmlns:a="http://schemas.openxmlformats.org/drawingml/2006/main">
            <a:pPr algn="l">
              <a:buNone/>
              <a:defRPr sz="1875" b="0">
                <a:solidFill>
                  <a:srgbClr val="B76817"/>
                </a:solidFill>
                <a:latin typeface="DejaVu Sans"/>
                <a:ea typeface="DejaVu Sans"/>
                <a:cs typeface="DejaVu Sans"/>
              </a:defRPr>
            </a:pPr>
            <a:r>
              <a:rPr sz="1781" b="0">
                <a:solidFill>
                  <a:srgbClr val="B76817"/>
                </a:solidFill>
                <a:latin typeface="DejaVu Sans"/>
                <a:ea typeface="DejaVu Sans"/>
                <a:cs typeface="DejaVu Sans"/>
              </a:rPr>
              <a:t>Ảnh thực tế còn chịu ảnh hưởng của ánh sáng và hậu cảnh</a:t>
            </a:r>
          </a:p>
        </p:txBody>
      </p:sp>
      <p:pic>
        <p:nvPicPr>
          <p:cNvPr id="12" name="">
            <a:extLst xmlns:a="http://schemas.openxmlformats.org/drawingml/2006/main">
              <a:ext uri="{FF2B5EF4-FFF2-40B4-BE49-F238E27FC236}">
                <a16:creationId xmlns:a16="http://schemas.microsoft.com/office/drawing/2014/main" id="{1225453E-D602-402C-A8B4-2EAC8DF872DC}"/>
              </a:ext>
            </a:extLst>
          </p:cNvPr>
          <p:cNvPicPr>
            <a:picLocks xmlns:a="http://schemas.openxmlformats.org/drawingml/2006/main" noChangeAspect="1"/>
          </p:cNvPicPr>
          <p:nvPr/>
        </p:nvPicPr>
        <p:blipFill>
          <a:blip xmlns:r="http://schemas.openxmlformats.org/officeDocument/2006/relationships" xmlns:a="http://schemas.openxmlformats.org/drawingml/2006/main" r:embed="R4274ab790e48464f"/>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935128654"/>
      </p:ext>
    </p:extLst>
  </p:cSld>
</p:sld>
</file>

<file path=ppt/slides/slide9.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11" name="text-Ước lượng vòng đời theo nhiệ">
            <a:extLst xmlns:a="http://schemas.openxmlformats.org/drawingml/2006/main">
              <a:ext uri="{FF2B5EF4-FFF2-40B4-BE49-F238E27FC236}">
                <a16:creationId xmlns:a16="http://schemas.microsoft.com/office/drawing/2014/main" id="{B7B0161F-95E5-448C-9B9E-465EDED9DA18}"/>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Ước lượng vòng đời theo nhiệt độ</a:t>
            </a:r>
          </a:p>
        </p:txBody>
      </p:sp>
      <p:sp>
        <p:nvSpPr>
          <p:cNvPr id="2" name="text-9">
            <a:extLst xmlns:a="http://schemas.openxmlformats.org/drawingml/2006/main">
              <a:ext uri="{FF2B5EF4-FFF2-40B4-BE49-F238E27FC236}">
                <a16:creationId xmlns:a16="http://schemas.microsoft.com/office/drawing/2014/main" id="{B5A525B1-E514-4A28-AE44-445BBEF05533}"/>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9</a:t>
            </a:r>
          </a:p>
        </p:txBody>
      </p:sp>
      <p:sp>
        <p:nvSpPr>
          <p:cNvPr id="3" name="text-D₀ = round(T₀ × f)">
            <a:extLst xmlns:a="http://schemas.openxmlformats.org/drawingml/2006/main">
              <a:ext uri="{FF2B5EF4-FFF2-40B4-BE49-F238E27FC236}">
                <a16:creationId xmlns:a16="http://schemas.microsoft.com/office/drawing/2014/main" id="{97AB3183-E5BB-4485-B036-91A69019D22A}"/>
              </a:ext>
            </a:extLst>
          </p:cNvPr>
          <p:cNvSpPr>
            <a:spLocks xmlns:a="http://schemas.openxmlformats.org/drawingml/2006/main" noGrp="1"/>
          </p:cNvSpPr>
          <p:nvPr/>
        </p:nvSpPr>
        <p:spPr>
          <a:xfrm xmlns:a="http://schemas.openxmlformats.org/drawingml/2006/main">
            <a:off x="609600" y="2652713"/>
            <a:ext cx="6858000" cy="478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8" b="1">
                <a:solidFill>
                  <a:srgbClr val="173729"/>
                </a:solidFill>
                <a:latin typeface="DejaVu Sans"/>
                <a:ea typeface="DejaVu Sans"/>
                <a:cs typeface="DejaVu Sans"/>
              </a:defRPr>
            </a:defPPr>
          </a:lstStyle>
          <a:p xmlns:a="http://schemas.openxmlformats.org/drawingml/2006/main">
            <a:pPr algn="l">
              <a:buNone/>
              <a:defRPr sz="2850" b="1">
                <a:solidFill>
                  <a:srgbClr val="173729"/>
                </a:solidFill>
                <a:latin typeface="DejaVu Sans"/>
                <a:ea typeface="DejaVu Sans"/>
                <a:cs typeface="DejaVu Sans"/>
              </a:defRPr>
            </a:pPr>
            <a:r>
              <a:rPr sz="2708" b="1">
                <a:solidFill>
                  <a:srgbClr val="173729"/>
                </a:solidFill>
                <a:latin typeface="DejaVu Sans"/>
                <a:ea typeface="DejaVu Sans"/>
                <a:cs typeface="DejaVu Sans"/>
              </a:rPr>
              <a:t>D₀ = round(T₀ × f)</a:t>
            </a:r>
          </a:p>
        </p:txBody>
      </p:sp>
      <p:sp>
        <p:nvSpPr>
          <p:cNvPr id="4" name="text-k(T) = 2^((T − 25)/10)">
            <a:extLst xmlns:a="http://schemas.openxmlformats.org/drawingml/2006/main">
              <a:ext uri="{FF2B5EF4-FFF2-40B4-BE49-F238E27FC236}">
                <a16:creationId xmlns:a16="http://schemas.microsoft.com/office/drawing/2014/main" id="{51F211E2-D88A-4CA4-BC20-27290CF9CFEF}"/>
              </a:ext>
            </a:extLst>
          </p:cNvPr>
          <p:cNvSpPr>
            <a:spLocks xmlns:a="http://schemas.openxmlformats.org/drawingml/2006/main" noGrp="1"/>
          </p:cNvSpPr>
          <p:nvPr/>
        </p:nvSpPr>
        <p:spPr>
          <a:xfrm xmlns:a="http://schemas.openxmlformats.org/drawingml/2006/main">
            <a:off x="609600" y="3267075"/>
            <a:ext cx="6858000"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65" b="1">
                <a:solidFill>
                  <a:srgbClr val="173729"/>
                </a:solidFill>
                <a:latin typeface="DejaVu Sans"/>
                <a:ea typeface="DejaVu Sans"/>
                <a:cs typeface="DejaVu Sans"/>
              </a:defRPr>
            </a:defPPr>
          </a:lstStyle>
          <a:p xmlns:a="http://schemas.openxmlformats.org/drawingml/2006/main">
            <a:pPr algn="l">
              <a:buNone/>
              <a:defRPr sz="2700" b="1">
                <a:solidFill>
                  <a:srgbClr val="173729"/>
                </a:solidFill>
                <a:latin typeface="DejaVu Sans"/>
                <a:ea typeface="DejaVu Sans"/>
                <a:cs typeface="DejaVu Sans"/>
              </a:defRPr>
            </a:pPr>
            <a:r>
              <a:rPr sz="2565" b="1">
                <a:solidFill>
                  <a:srgbClr val="173729"/>
                </a:solidFill>
                <a:latin typeface="DejaVu Sans"/>
                <a:ea typeface="DejaVu Sans"/>
                <a:cs typeface="DejaVu Sans"/>
              </a:rPr>
              <a:t>k(T) = 2^((T − 25)/10)</a:t>
            </a:r>
          </a:p>
        </p:txBody>
      </p:sp>
      <p:sp>
        <p:nvSpPr>
          <p:cNvPr id="5" name="text-Δc = (Δt / 24) × k(T) / D₀">
            <a:extLst xmlns:a="http://schemas.openxmlformats.org/drawingml/2006/main">
              <a:ext uri="{FF2B5EF4-FFF2-40B4-BE49-F238E27FC236}">
                <a16:creationId xmlns:a16="http://schemas.microsoft.com/office/drawing/2014/main" id="{4DF4CB38-6F33-4B46-AB3F-5D7294BE8CC3}"/>
              </a:ext>
            </a:extLst>
          </p:cNvPr>
          <p:cNvSpPr>
            <a:spLocks xmlns:a="http://schemas.openxmlformats.org/drawingml/2006/main" noGrp="1"/>
          </p:cNvSpPr>
          <p:nvPr/>
        </p:nvSpPr>
        <p:spPr>
          <a:xfrm xmlns:a="http://schemas.openxmlformats.org/drawingml/2006/main">
            <a:off x="609600" y="3902869"/>
            <a:ext cx="685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23" b="1">
                <a:solidFill>
                  <a:srgbClr val="173729"/>
                </a:solidFill>
                <a:latin typeface="DejaVu Sans"/>
                <a:ea typeface="DejaVu Sans"/>
                <a:cs typeface="DejaVu Sans"/>
              </a:defRPr>
            </a:defPPr>
          </a:lstStyle>
          <a:p xmlns:a="http://schemas.openxmlformats.org/drawingml/2006/main">
            <a:pPr algn="l">
              <a:buNone/>
              <a:defRPr sz="2550" b="1">
                <a:solidFill>
                  <a:srgbClr val="173729"/>
                </a:solidFill>
                <a:latin typeface="DejaVu Sans"/>
                <a:ea typeface="DejaVu Sans"/>
                <a:cs typeface="DejaVu Sans"/>
              </a:defRPr>
            </a:pPr>
            <a:r>
              <a:rPr sz="2423" b="1">
                <a:solidFill>
                  <a:srgbClr val="173729"/>
                </a:solidFill>
                <a:latin typeface="DejaVu Sans"/>
                <a:ea typeface="DejaVu Sans"/>
                <a:cs typeface="DejaVu Sans"/>
              </a:rPr>
              <a:t>Δc = (Δt / 24) × k(T) / D₀</a:t>
            </a:r>
          </a:p>
        </p:txBody>
      </p:sp>
      <p:sp>
        <p:nvSpPr>
          <p:cNvPr id="6" name="text-Δt tính bằng giờ. c là tỷ lệ">
            <a:extLst xmlns:a="http://schemas.openxmlformats.org/drawingml/2006/main">
              <a:ext uri="{FF2B5EF4-FFF2-40B4-BE49-F238E27FC236}">
                <a16:creationId xmlns:a16="http://schemas.microsoft.com/office/drawing/2014/main" id="{E5EA885B-847E-4DF1-8725-7E28D0C21C12}"/>
              </a:ext>
            </a:extLst>
          </p:cNvPr>
          <p:cNvSpPr>
            <a:spLocks xmlns:a="http://schemas.openxmlformats.org/drawingml/2006/main" noGrp="1"/>
          </p:cNvSpPr>
          <p:nvPr/>
        </p:nvSpPr>
        <p:spPr>
          <a:xfrm xmlns:a="http://schemas.openxmlformats.org/drawingml/2006/main">
            <a:off x="609600" y="4538663"/>
            <a:ext cx="706755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Δt tính bằng giờ. c là tỷ lệ đã tiêu hao.</a:t>
            </a:r>
          </a:p>
        </p:txBody>
      </p:sp>
      <p:graphicFrame>
        <p:nvGraphicFramePr>
          <p:cNvPr id="7" name="">
            <a:extLst xmlns:a="http://schemas.openxmlformats.org/drawingml/2006/main">
              <a:ext uri="{FF2B5EF4-FFF2-40B4-BE49-F238E27FC236}">
                <a16:creationId xmlns:a16="http://schemas.microsoft.com/office/drawing/2014/main" id="{EDB4F9D8-47B1-497E-9CA8-B48985338E83}"/>
              </a:ext>
            </a:extLst>
          </p:cNvPr>
          <p:cNvGraphicFramePr/>
          <p:nvPr/>
        </p:nvGraphicFramePr>
        <p:xfrm>
          <a:off xmlns:a="http://schemas.openxmlformats.org/drawingml/2006/main" x="8239125" y="2681288"/>
          <a:ext xmlns:a="http://schemas.openxmlformats.org/drawingml/2006/main" cx="3343275" cy="1764506"/>
        </p:xfrm>
        <a:graphic xmlns:a="http://schemas.openxmlformats.org/drawingml/2006/main">
          <a:graphicData uri="http://schemas.openxmlformats.org/drawingml/2006/table">
            <a:tbl>
              <a:tblPr/>
              <a:tblGrid>
                <a:gridCol w="1724025"/>
                <a:gridCol w="1619250"/>
              </a:tblGrid>
              <a:tr h="441127">
                <a:tc>
                  <a:txBody>
                    <a:bodyPr lIns="114300" tIns="114300" rIns="114300" bIns="114300">
                      <a:noAutofit/>
                    </a:bodyPr>
                    <a:lstStyle/>
                    <a:p>
                      <a:r>
                        <a:rPr sz="1875" b="1">
                          <a:solidFill>
                            <a:srgbClr val="FFFFFF"/>
                          </a:solidFill>
                          <a:latin typeface="DejaVu Sans"/>
                          <a:ea typeface="DejaVu Sans"/>
                          <a:cs typeface="DejaVu Sans"/>
                        </a:rPr>
                        <a:t>Nhiệt độ</a:t>
                      </a:r>
                    </a:p>
                  </a:txBody>
                  <a:tcPr marL="91440" marR="91440" marT="45720" marB="45720" anchor="ctr">
                    <a:solidFill>
                      <a:srgbClr val="17583E"/>
                    </a:solidFill>
                  </a:tcPr>
                </a:tc>
                <a:tc>
                  <a:txBody>
                    <a:bodyPr lIns="114300" tIns="114300" rIns="114300" bIns="114300">
                      <a:noAutofit/>
                    </a:bodyPr>
                    <a:lstStyle/>
                    <a:p>
                      <a:r>
                        <a:rPr sz="1875" b="1">
                          <a:solidFill>
                            <a:srgbClr val="FFFFFF"/>
                          </a:solidFill>
                          <a:latin typeface="DejaVu Sans"/>
                          <a:ea typeface="DejaVu Sans"/>
                          <a:cs typeface="DejaVu Sans"/>
                        </a:rPr>
                        <a:t>Hệ số k</a:t>
                      </a:r>
                    </a:p>
                  </a:txBody>
                  <a:tcPr marL="91440" marR="91440" marT="45720" marB="45720" anchor="ctr">
                    <a:solidFill>
                      <a:srgbClr val="17583E"/>
                    </a:solidFill>
                  </a:tcPr>
                </a:tc>
              </a:tr>
              <a:tr h="441127">
                <a:tc>
                  <a:txBody>
                    <a:bodyPr lIns="114300" tIns="114300" rIns="114300" bIns="114300">
                      <a:noAutofit/>
                    </a:bodyPr>
                    <a:lstStyle/>
                    <a:p>
                      <a:r>
                        <a:rPr sz="1875" b="0">
                          <a:solidFill>
                            <a:srgbClr val="173729"/>
                          </a:solidFill>
                          <a:latin typeface="DejaVu Sans"/>
                          <a:ea typeface="DejaVu Sans"/>
                          <a:cs typeface="DejaVu Sans"/>
                        </a:rPr>
                        <a:t>15°C</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0,5</a:t>
                      </a:r>
                    </a:p>
                  </a:txBody>
                  <a:tcPr marL="91440" marR="91440" marT="45720" marB="45720" anchor="ctr">
                    <a:solidFill>
                      <a:srgbClr val="FFFFFF"/>
                    </a:solidFill>
                  </a:tcPr>
                </a:tc>
              </a:tr>
              <a:tr h="441127">
                <a:tc>
                  <a:txBody>
                    <a:bodyPr lIns="114300" tIns="114300" rIns="114300" bIns="114300">
                      <a:noAutofit/>
                    </a:bodyPr>
                    <a:lstStyle/>
                    <a:p>
                      <a:r>
                        <a:rPr sz="1875" b="0">
                          <a:solidFill>
                            <a:srgbClr val="173729"/>
                          </a:solidFill>
                          <a:latin typeface="DejaVu Sans"/>
                          <a:ea typeface="DejaVu Sans"/>
                          <a:cs typeface="DejaVu Sans"/>
                        </a:rPr>
                        <a:t>25°C</a:t>
                      </a:r>
                    </a:p>
                  </a:txBody>
                  <a:tcPr marL="91440" marR="91440" marT="45720" marB="45720" anchor="ctr">
                    <a:solidFill>
                      <a:srgbClr val="EFF3EC"/>
                    </a:solidFill>
                  </a:tcPr>
                </a:tc>
                <a:tc>
                  <a:txBody>
                    <a:bodyPr lIns="114300" tIns="114300" rIns="114300" bIns="114300">
                      <a:noAutofit/>
                    </a:bodyPr>
                    <a:lstStyle/>
                    <a:p>
                      <a:r>
                        <a:rPr sz="1875" b="0">
                          <a:solidFill>
                            <a:srgbClr val="173729"/>
                          </a:solidFill>
                          <a:latin typeface="DejaVu Sans"/>
                          <a:ea typeface="DejaVu Sans"/>
                          <a:cs typeface="DejaVu Sans"/>
                        </a:rPr>
                        <a:t>1</a:t>
                      </a:r>
                    </a:p>
                  </a:txBody>
                  <a:tcPr marL="91440" marR="91440" marT="45720" marB="45720" anchor="ctr">
                    <a:solidFill>
                      <a:srgbClr val="EFF3EC"/>
                    </a:solidFill>
                  </a:tcPr>
                </a:tc>
              </a:tr>
              <a:tr h="441127">
                <a:tc>
                  <a:txBody>
                    <a:bodyPr lIns="114300" tIns="114300" rIns="114300" bIns="114300">
                      <a:noAutofit/>
                    </a:bodyPr>
                    <a:lstStyle/>
                    <a:p>
                      <a:r>
                        <a:rPr sz="1875" b="0">
                          <a:solidFill>
                            <a:srgbClr val="173729"/>
                          </a:solidFill>
                          <a:latin typeface="DejaVu Sans"/>
                          <a:ea typeface="DejaVu Sans"/>
                          <a:cs typeface="DejaVu Sans"/>
                        </a:rPr>
                        <a:t>35°C</a:t>
                      </a:r>
                    </a:p>
                  </a:txBody>
                  <a:tcPr marL="91440" marR="91440" marT="45720" marB="45720" anchor="ctr">
                    <a:solidFill>
                      <a:srgbClr val="FFFFFF"/>
                    </a:solidFill>
                  </a:tcPr>
                </a:tc>
                <a:tc>
                  <a:txBody>
                    <a:bodyPr lIns="114300" tIns="114300" rIns="114300" bIns="114300">
                      <a:noAutofit/>
                    </a:bodyPr>
                    <a:lstStyle/>
                    <a:p>
                      <a:r>
                        <a:rPr sz="1875" b="0">
                          <a:solidFill>
                            <a:srgbClr val="173729"/>
                          </a:solidFill>
                          <a:latin typeface="DejaVu Sans"/>
                          <a:ea typeface="DejaVu Sans"/>
                          <a:cs typeface="DejaVu Sans"/>
                        </a:rPr>
                        <a:t>2</a:t>
                      </a:r>
                    </a:p>
                  </a:txBody>
                  <a:tcPr marL="91440" marR="91440" marT="45720" marB="45720" anchor="ctr">
                    <a:solidFill>
                      <a:srgbClr val="FFFFFF"/>
                    </a:solidFill>
                  </a:tcPr>
                </a:tc>
              </a:tr>
            </a:tbl>
          </a:graphicData>
        </a:graphic>
      </p:graphicFrame>
      <p:sp>
        <p:nvSpPr>
          <p:cNvPr id="8" name="text-Ví dụ">
            <a:extLst xmlns:a="http://schemas.openxmlformats.org/drawingml/2006/main">
              <a:ext uri="{FF2B5EF4-FFF2-40B4-BE49-F238E27FC236}">
                <a16:creationId xmlns:a16="http://schemas.microsoft.com/office/drawing/2014/main" id="{65C9613A-73DF-4A4B-9862-8EBAC8E366F9}"/>
              </a:ext>
            </a:extLst>
          </p:cNvPr>
          <p:cNvSpPr>
            <a:spLocks xmlns:a="http://schemas.openxmlformats.org/drawingml/2006/main" noGrp="1"/>
          </p:cNvSpPr>
          <p:nvPr/>
        </p:nvSpPr>
        <p:spPr>
          <a:xfrm xmlns:a="http://schemas.openxmlformats.org/drawingml/2006/main">
            <a:off x="8239125" y="4795838"/>
            <a:ext cx="334327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583E"/>
                </a:solidFill>
                <a:latin typeface="DejaVu Sans"/>
                <a:ea typeface="DejaVu Sans"/>
                <a:cs typeface="DejaVu Sans"/>
              </a:defRPr>
            </a:defPPr>
          </a:lstStyle>
          <a:p xmlns:a="http://schemas.openxmlformats.org/drawingml/2006/main">
            <a:pPr algn="l">
              <a:buNone/>
              <a:defRPr sz="2100" b="1">
                <a:solidFill>
                  <a:srgbClr val="17583E"/>
                </a:solidFill>
                <a:latin typeface="DejaVu Sans"/>
                <a:ea typeface="DejaVu Sans"/>
                <a:cs typeface="DejaVu Sans"/>
              </a:defRPr>
            </a:pPr>
            <a:r>
              <a:rPr sz="1995" b="1">
                <a:solidFill>
                  <a:srgbClr val="17583E"/>
                </a:solidFill>
                <a:latin typeface="DejaVu Sans"/>
                <a:ea typeface="DejaVu Sans"/>
                <a:cs typeface="DejaVu Sans"/>
              </a:rPr>
              <a:t>Ví dụ</a:t>
            </a:r>
          </a:p>
        </p:txBody>
      </p:sp>
      <p:sp>
        <p:nvSpPr>
          <p:cNvPr id="9" name="text-Lô 6 ngày tại 35°C&#10;Sau 24 gi">
            <a:extLst xmlns:a="http://schemas.openxmlformats.org/drawingml/2006/main">
              <a:ext uri="{FF2B5EF4-FFF2-40B4-BE49-F238E27FC236}">
                <a16:creationId xmlns:a16="http://schemas.microsoft.com/office/drawing/2014/main" id="{1B9C7337-399A-4A13-897D-75B9419ADAFC}"/>
              </a:ext>
            </a:extLst>
          </p:cNvPr>
          <p:cNvSpPr>
            <a:spLocks xmlns:a="http://schemas.openxmlformats.org/drawingml/2006/main" noGrp="1"/>
          </p:cNvSpPr>
          <p:nvPr/>
        </p:nvSpPr>
        <p:spPr>
          <a:xfrm xmlns:a="http://schemas.openxmlformats.org/drawingml/2006/main">
            <a:off x="8239125" y="5160169"/>
            <a:ext cx="3343275" cy="700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Lô 6 ngày tại 35°C</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Sau 24 giờ tiêu hao 33,3%</a:t>
            </a:r>
          </a:p>
        </p:txBody>
      </p:sp>
      <p:sp>
        <p:nvSpPr>
          <p:cNvPr id="10" name="text-Ngày còn lại = (1 − c) × D₀ ">
            <a:extLst xmlns:a="http://schemas.openxmlformats.org/drawingml/2006/main">
              <a:ext uri="{FF2B5EF4-FFF2-40B4-BE49-F238E27FC236}">
                <a16:creationId xmlns:a16="http://schemas.microsoft.com/office/drawing/2014/main" id="{2932E1EC-6CA9-4FF7-BA59-62F504562F95}"/>
              </a:ext>
            </a:extLst>
          </p:cNvPr>
          <p:cNvSpPr>
            <a:spLocks xmlns:a="http://schemas.openxmlformats.org/drawingml/2006/main" noGrp="1"/>
          </p:cNvSpPr>
          <p:nvPr/>
        </p:nvSpPr>
        <p:spPr>
          <a:xfrm xmlns:a="http://schemas.openxmlformats.org/drawingml/2006/main">
            <a:off x="609600" y="5888831"/>
            <a:ext cx="109728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B76817"/>
                </a:solidFill>
                <a:latin typeface="DejaVu Sans"/>
                <a:ea typeface="DejaVu Sans"/>
                <a:cs typeface="DejaVu Sans"/>
              </a:defRPr>
            </a:defPPr>
          </a:lstStyle>
          <a:p xmlns:a="http://schemas.openxmlformats.org/drawingml/2006/main">
            <a:pPr algn="l">
              <a:buNone/>
              <a:defRPr sz="1875" b="0">
                <a:solidFill>
                  <a:srgbClr val="B76817"/>
                </a:solidFill>
                <a:latin typeface="DejaVu Sans"/>
                <a:ea typeface="DejaVu Sans"/>
                <a:cs typeface="DejaVu Sans"/>
              </a:defRPr>
            </a:pPr>
            <a:r>
              <a:rPr sz="1781" b="0">
                <a:solidFill>
                  <a:srgbClr val="B76817"/>
                </a:solidFill>
                <a:latin typeface="DejaVu Sans"/>
                <a:ea typeface="DejaVu Sans"/>
                <a:cs typeface="DejaVu Sans"/>
              </a:rPr>
              <a:t>Ngày còn lại = (1 − c) × D₀ là ngày quy đổi về 25°C</a:t>
            </a:r>
          </a:p>
        </p:txBody>
      </p:sp>
      <p:pic>
        <p:nvPicPr>
          <p:cNvPr id="12" name="">
            <a:extLst xmlns:a="http://schemas.openxmlformats.org/drawingml/2006/main">
              <a:ext uri="{FF2B5EF4-FFF2-40B4-BE49-F238E27FC236}">
                <a16:creationId xmlns:a16="http://schemas.microsoft.com/office/drawing/2014/main" id="{8BAEC846-C9E5-4FA2-B434-131846384519}"/>
              </a:ext>
            </a:extLst>
          </p:cNvPr>
          <p:cNvPicPr>
            <a:picLocks xmlns:a="http://schemas.openxmlformats.org/drawingml/2006/main" noChangeAspect="1"/>
          </p:cNvPicPr>
          <p:nvPr/>
        </p:nvPicPr>
        <p:blipFill>
          <a:blip xmlns:r="http://schemas.openxmlformats.org/officeDocument/2006/relationships" xmlns:a="http://schemas.openxmlformats.org/drawingml/2006/main" r:embed="R5484f1d54b4144a4"/>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120147901"/>
      </p:ext>
    </p:extLst>
  </p:cSld>
</p:sld>
</file>

<file path=ppt/slides/slide10.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10" name="text-Trạm IoT và cảnh báo tại kho">
            <a:extLst xmlns:a="http://schemas.openxmlformats.org/drawingml/2006/main">
              <a:ext uri="{FF2B5EF4-FFF2-40B4-BE49-F238E27FC236}">
                <a16:creationId xmlns:a16="http://schemas.microsoft.com/office/drawing/2014/main" id="{F57933A0-41F6-4B36-84DF-9389FEA1FE4B}"/>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Trạm IoT và cảnh báo tại kho</a:t>
            </a:r>
          </a:p>
        </p:txBody>
      </p:sp>
      <p:sp>
        <p:nvSpPr>
          <p:cNvPr id="2" name="text-10">
            <a:extLst xmlns:a="http://schemas.openxmlformats.org/drawingml/2006/main">
              <a:ext uri="{FF2B5EF4-FFF2-40B4-BE49-F238E27FC236}">
                <a16:creationId xmlns:a16="http://schemas.microsoft.com/office/drawing/2014/main" id="{C0E652ED-8474-4675-8024-127D3E0ED21D}"/>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3C760C1A-C384-4BDA-A13A-9CBE140E1E5E}"/>
              </a:ext>
            </a:extLst>
          </p:cNvPr>
          <p:cNvPicPr>
            <a:picLocks xmlns:a="http://schemas.openxmlformats.org/drawingml/2006/main" noChangeAspect="1"/>
          </p:cNvPicPr>
          <p:nvPr/>
        </p:nvPicPr>
        <p:blipFill>
          <a:blip xmlns:r="http://schemas.openxmlformats.org/officeDocument/2006/relationships" xmlns:a="http://schemas.openxmlformats.org/drawingml/2006/main" r:embed="Rca58da8cca34498c"/>
          <a:stretch xmlns:a="http://schemas.openxmlformats.org/drawingml/2006/main"/>
        </p:blipFill>
        <p:spPr>
          <a:xfrm xmlns:a="http://schemas.openxmlformats.org/drawingml/2006/main">
            <a:off x="1372791" y="2667644"/>
            <a:ext cx="4579144" cy="3049094"/>
          </a:xfrm>
          <a:prstGeom xmlns:a="http://schemas.openxmlformats.org/drawingml/2006/main" prst="rect">
            <a:avLst/>
          </a:prstGeom>
        </p:spPr>
      </p:pic>
      <p:sp>
        <p:nvSpPr>
          <p:cNvPr id="4" name="text-ESP32 và DHT22">
            <a:extLst xmlns:a="http://schemas.openxmlformats.org/drawingml/2006/main">
              <a:ext uri="{FF2B5EF4-FFF2-40B4-BE49-F238E27FC236}">
                <a16:creationId xmlns:a16="http://schemas.microsoft.com/office/drawing/2014/main" id="{77CE298E-1A2B-4A2B-988C-AC8A1161E5F8}"/>
              </a:ext>
            </a:extLst>
          </p:cNvPr>
          <p:cNvSpPr>
            <a:spLocks xmlns:a="http://schemas.openxmlformats.org/drawingml/2006/main" noGrp="1"/>
          </p:cNvSpPr>
          <p:nvPr/>
        </p:nvSpPr>
        <p:spPr>
          <a:xfrm xmlns:a="http://schemas.openxmlformats.org/drawingml/2006/main">
            <a:off x="7239000" y="2652713"/>
            <a:ext cx="433387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ESP32 và DHT22</a:t>
            </a:r>
          </a:p>
        </p:txBody>
      </p:sp>
      <p:sp>
        <p:nvSpPr>
          <p:cNvPr id="5" name="text-Đo nhiệt độ và độ ẩm&#10;Đọc cảm">
            <a:extLst xmlns:a="http://schemas.openxmlformats.org/drawingml/2006/main">
              <a:ext uri="{FF2B5EF4-FFF2-40B4-BE49-F238E27FC236}">
                <a16:creationId xmlns:a16="http://schemas.microsoft.com/office/drawing/2014/main" id="{9F79A0A1-4F75-4EB9-88E0-945D3DE1DAB0}"/>
              </a:ext>
            </a:extLst>
          </p:cNvPr>
          <p:cNvSpPr>
            <a:spLocks xmlns:a="http://schemas.openxmlformats.org/drawingml/2006/main" noGrp="1"/>
          </p:cNvSpPr>
          <p:nvPr/>
        </p:nvSpPr>
        <p:spPr>
          <a:xfrm xmlns:a="http://schemas.openxmlformats.org/drawingml/2006/main">
            <a:off x="7239000" y="3031331"/>
            <a:ext cx="433387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Đo nhiệt độ và độ ẩm</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Đọc cảm biến mỗi 30 giây</a:t>
            </a:r>
          </a:p>
        </p:txBody>
      </p:sp>
      <p:sp>
        <p:nvSpPr>
          <p:cNvPr id="6" name="text-Cập nhật tiêu hao">
            <a:extLst xmlns:a="http://schemas.openxmlformats.org/drawingml/2006/main">
              <a:ext uri="{FF2B5EF4-FFF2-40B4-BE49-F238E27FC236}">
                <a16:creationId xmlns:a16="http://schemas.microsoft.com/office/drawing/2014/main" id="{4BF2ED62-474A-430F-9A1B-52A191528157}"/>
              </a:ext>
            </a:extLst>
          </p:cNvPr>
          <p:cNvSpPr>
            <a:spLocks xmlns:a="http://schemas.openxmlformats.org/drawingml/2006/main" noGrp="1"/>
          </p:cNvSpPr>
          <p:nvPr/>
        </p:nvSpPr>
        <p:spPr>
          <a:xfrm xmlns:a="http://schemas.openxmlformats.org/drawingml/2006/main">
            <a:off x="7239000" y="3874294"/>
            <a:ext cx="433387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Cập nhật tiêu hao</a:t>
            </a:r>
          </a:p>
        </p:txBody>
      </p:sp>
      <p:sp>
        <p:nvSpPr>
          <p:cNvPr id="7" name="text-Chu kỳ vận hành 15 phút&#10;Chu ">
            <a:extLst xmlns:a="http://schemas.openxmlformats.org/drawingml/2006/main">
              <a:ext uri="{FF2B5EF4-FFF2-40B4-BE49-F238E27FC236}">
                <a16:creationId xmlns:a16="http://schemas.microsoft.com/office/drawing/2014/main" id="{21A6AEB3-DC9F-4B3A-91DC-A05B0584707B}"/>
              </a:ext>
            </a:extLst>
          </p:cNvPr>
          <p:cNvSpPr>
            <a:spLocks xmlns:a="http://schemas.openxmlformats.org/drawingml/2006/main" noGrp="1"/>
          </p:cNvSpPr>
          <p:nvPr/>
        </p:nvSpPr>
        <p:spPr>
          <a:xfrm xmlns:a="http://schemas.openxmlformats.org/drawingml/2006/main">
            <a:off x="7239000" y="4252913"/>
            <a:ext cx="433387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Chu kỳ vận hành 15 phút</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Chu kỳ demo 30 giây</a:t>
            </a:r>
          </a:p>
        </p:txBody>
      </p:sp>
      <p:sp>
        <p:nvSpPr>
          <p:cNvPr id="8" name="text-Cảnh báo theo lô xấu nhất">
            <a:extLst xmlns:a="http://schemas.openxmlformats.org/drawingml/2006/main">
              <a:ext uri="{FF2B5EF4-FFF2-40B4-BE49-F238E27FC236}">
                <a16:creationId xmlns:a16="http://schemas.microsoft.com/office/drawing/2014/main" id="{011B0EC4-5D2D-42C7-AAC6-BA4E2FCEA5F1}"/>
              </a:ext>
            </a:extLst>
          </p:cNvPr>
          <p:cNvSpPr>
            <a:spLocks xmlns:a="http://schemas.openxmlformats.org/drawingml/2006/main" noGrp="1"/>
          </p:cNvSpPr>
          <p:nvPr/>
        </p:nvSpPr>
        <p:spPr>
          <a:xfrm xmlns:a="http://schemas.openxmlformats.org/drawingml/2006/main">
            <a:off x="7239000" y="5095875"/>
            <a:ext cx="4333875"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Cảnh báo theo lô xấu nhất</a:t>
            </a:r>
          </a:p>
        </p:txBody>
      </p:sp>
      <p:sp>
        <p:nvSpPr>
          <p:cNvPr id="9" name="text-Ba LED trạng thái&#10;Còi kêu kh">
            <a:extLst xmlns:a="http://schemas.openxmlformats.org/drawingml/2006/main">
              <a:ext uri="{FF2B5EF4-FFF2-40B4-BE49-F238E27FC236}">
                <a16:creationId xmlns:a16="http://schemas.microsoft.com/office/drawing/2014/main" id="{67CD867A-5B7B-4F02-BF1B-4605DDCB70E5}"/>
              </a:ext>
            </a:extLst>
          </p:cNvPr>
          <p:cNvSpPr>
            <a:spLocks xmlns:a="http://schemas.openxmlformats.org/drawingml/2006/main" noGrp="1"/>
          </p:cNvSpPr>
          <p:nvPr/>
        </p:nvSpPr>
        <p:spPr>
          <a:xfrm xmlns:a="http://schemas.openxmlformats.org/drawingml/2006/main">
            <a:off x="7239000" y="5474494"/>
            <a:ext cx="433387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Ba LED trạng thái</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Còi kêu khi chuyển sang đỏ</a:t>
            </a:r>
          </a:p>
        </p:txBody>
      </p:sp>
      <p:pic>
        <p:nvPicPr>
          <p:cNvPr id="11" name="">
            <a:extLst xmlns:a="http://schemas.openxmlformats.org/drawingml/2006/main">
              <a:ext uri="{FF2B5EF4-FFF2-40B4-BE49-F238E27FC236}">
                <a16:creationId xmlns:a16="http://schemas.microsoft.com/office/drawing/2014/main" id="{42F5A9D1-BDC4-4363-8179-8A0BE5A5D48E}"/>
              </a:ext>
            </a:extLst>
          </p:cNvPr>
          <p:cNvPicPr>
            <a:picLocks xmlns:a="http://schemas.openxmlformats.org/drawingml/2006/main" noChangeAspect="1"/>
          </p:cNvPicPr>
          <p:nvPr/>
        </p:nvPicPr>
        <p:blipFill>
          <a:blip xmlns:r="http://schemas.openxmlformats.org/officeDocument/2006/relationships" xmlns:a="http://schemas.openxmlformats.org/drawingml/2006/main" r:embed="R16e832b398684e49"/>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414825298"/>
      </p:ext>
    </p:extLst>
  </p:cSld>
</p:sld>
</file>

<file path=ppt/slides/slide11.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9" name="text-Kiểm thử và kết quả hệ thống">
            <a:extLst xmlns:a="http://schemas.openxmlformats.org/drawingml/2006/main">
              <a:ext uri="{FF2B5EF4-FFF2-40B4-BE49-F238E27FC236}">
                <a16:creationId xmlns:a16="http://schemas.microsoft.com/office/drawing/2014/main" id="{A2CE1C24-7D4A-4AD4-93CA-5731C4399B9E}"/>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Kiểm thử và kết quả hệ thống</a:t>
            </a:r>
          </a:p>
        </p:txBody>
      </p:sp>
      <p:sp>
        <p:nvSpPr>
          <p:cNvPr id="2" name="text-11">
            <a:extLst xmlns:a="http://schemas.openxmlformats.org/drawingml/2006/main">
              <a:ext uri="{FF2B5EF4-FFF2-40B4-BE49-F238E27FC236}">
                <a16:creationId xmlns:a16="http://schemas.microsoft.com/office/drawing/2014/main" id="{0DBEB369-D4AD-4314-BA2F-CD7292472936}"/>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11</a:t>
            </a:r>
          </a:p>
        </p:txBody>
      </p:sp>
      <p:sp>
        <p:nvSpPr>
          <p:cNvPr id="3" name="text-73/73">
            <a:extLst xmlns:a="http://schemas.openxmlformats.org/drawingml/2006/main">
              <a:ext uri="{FF2B5EF4-FFF2-40B4-BE49-F238E27FC236}">
                <a16:creationId xmlns:a16="http://schemas.microsoft.com/office/drawing/2014/main" id="{728E157D-FA5E-43AF-9868-50F96A57A7F6}"/>
              </a:ext>
            </a:extLst>
          </p:cNvPr>
          <p:cNvSpPr>
            <a:spLocks xmlns:a="http://schemas.openxmlformats.org/drawingml/2006/main" noGrp="1"/>
          </p:cNvSpPr>
          <p:nvPr/>
        </p:nvSpPr>
        <p:spPr>
          <a:xfrm xmlns:a="http://schemas.openxmlformats.org/drawingml/2006/main">
            <a:off x="609600" y="2588419"/>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89" b="1">
                <a:solidFill>
                  <a:srgbClr val="17583E"/>
                </a:solidFill>
                <a:latin typeface="DejaVu Sans"/>
                <a:ea typeface="DejaVu Sans"/>
                <a:cs typeface="DejaVu Sans"/>
              </a:defRPr>
            </a:defPPr>
          </a:lstStyle>
          <a:p xmlns:a="http://schemas.openxmlformats.org/drawingml/2006/main">
            <a:pPr algn="l">
              <a:buNone/>
              <a:defRPr sz="6450" b="1">
                <a:solidFill>
                  <a:srgbClr val="17583E"/>
                </a:solidFill>
                <a:latin typeface="DejaVu Sans"/>
                <a:ea typeface="DejaVu Sans"/>
                <a:cs typeface="DejaVu Sans"/>
              </a:defRPr>
            </a:pPr>
            <a:r>
              <a:rPr sz="5289" b="1">
                <a:solidFill>
                  <a:srgbClr val="17583E"/>
                </a:solidFill>
                <a:latin typeface="DejaVu Sans"/>
                <a:ea typeface="DejaVu Sans"/>
                <a:cs typeface="DejaVu Sans"/>
              </a:rPr>
              <a:t>73/73</a:t>
            </a:r>
          </a:p>
        </p:txBody>
      </p:sp>
      <p:sp>
        <p:nvSpPr>
          <p:cNvPr id="4" name="text-trường hợp đạt theo báo cáo">
            <a:extLst xmlns:a="http://schemas.openxmlformats.org/drawingml/2006/main">
              <a:ext uri="{FF2B5EF4-FFF2-40B4-BE49-F238E27FC236}">
                <a16:creationId xmlns:a16="http://schemas.microsoft.com/office/drawing/2014/main" id="{F5F8BE95-ACD5-43CD-99C8-EDEC6D78B13B}"/>
              </a:ext>
            </a:extLst>
          </p:cNvPr>
          <p:cNvSpPr>
            <a:spLocks xmlns:a="http://schemas.openxmlformats.org/drawingml/2006/main" noGrp="1"/>
          </p:cNvSpPr>
          <p:nvPr/>
        </p:nvSpPr>
        <p:spPr>
          <a:xfrm xmlns:a="http://schemas.openxmlformats.org/drawingml/2006/main">
            <a:off x="657225" y="3524250"/>
            <a:ext cx="5381625" cy="464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0">
                <a:solidFill>
                  <a:srgbClr val="62746A"/>
                </a:solidFill>
                <a:latin typeface="DejaVu Sans"/>
                <a:ea typeface="DejaVu Sans"/>
                <a:cs typeface="DejaVu Sans"/>
              </a:defRPr>
            </a:defPPr>
          </a:lstStyle>
          <a:p xmlns:a="http://schemas.openxmlformats.org/drawingml/2006/main">
            <a:pPr algn="l">
              <a:buNone/>
              <a:defRPr sz="2175" b="0">
                <a:solidFill>
                  <a:srgbClr val="62746A"/>
                </a:solidFill>
                <a:latin typeface="DejaVu Sans"/>
                <a:ea typeface="DejaVu Sans"/>
                <a:cs typeface="DejaVu Sans"/>
              </a:defRPr>
            </a:pPr>
            <a:r>
              <a:rPr sz="2066" b="0">
                <a:solidFill>
                  <a:srgbClr val="62746A"/>
                </a:solidFill>
                <a:latin typeface="DejaVu Sans"/>
                <a:ea typeface="DejaVu Sans"/>
                <a:cs typeface="DejaVu Sans"/>
              </a:rPr>
              <a:t>trường hợp đạt theo báo cáo</a:t>
            </a:r>
          </a:p>
        </p:txBody>
      </p:sp>
      <p:graphicFrame>
        <p:nvGraphicFramePr>
          <p:cNvPr id="5" name="">
            <a:extLst xmlns:a="http://schemas.openxmlformats.org/drawingml/2006/main">
              <a:ext uri="{FF2B5EF4-FFF2-40B4-BE49-F238E27FC236}">
                <a16:creationId xmlns:a16="http://schemas.microsoft.com/office/drawing/2014/main" id="{4F9CDE5C-4FF4-425D-8E84-E6D97E2CABE2}"/>
              </a:ext>
            </a:extLst>
          </p:cNvPr>
          <p:cNvGraphicFramePr/>
          <p:nvPr/>
        </p:nvGraphicFramePr>
        <p:xfrm>
          <a:off xmlns:a="http://schemas.openxmlformats.org/drawingml/2006/main" x="7248525" y="2595563"/>
          <a:ext xmlns:a="http://schemas.openxmlformats.org/drawingml/2006/main" cx="4333875" cy="2993231"/>
        </p:xfrm>
        <a:graphic xmlns:a="http://schemas.openxmlformats.org/drawingml/2006/main">
          <a:graphicData uri="http://schemas.openxmlformats.org/drawingml/2006/table">
            <a:tbl>
              <a:tblPr/>
              <a:tblGrid>
                <a:gridCol w="3095625"/>
                <a:gridCol w="1238250"/>
              </a:tblGrid>
              <a:tr h="427604">
                <a:tc>
                  <a:txBody>
                    <a:bodyPr lIns="114300" tIns="114300" rIns="114300" bIns="114300">
                      <a:noAutofit/>
                    </a:bodyPr>
                    <a:lstStyle/>
                    <a:p>
                      <a:r>
                        <a:rPr sz="1800" b="1">
                          <a:solidFill>
                            <a:srgbClr val="FFFFFF"/>
                          </a:solidFill>
                          <a:latin typeface="DejaVu Sans"/>
                          <a:ea typeface="DejaVu Sans"/>
                          <a:cs typeface="DejaVu Sans"/>
                        </a:rPr>
                        <a:t>Bộ kiểm thử</a:t>
                      </a:r>
                    </a:p>
                  </a:txBody>
                  <a:tcPr marL="91440" marR="91440" marT="45720" marB="45720" anchor="ctr">
                    <a:solidFill>
                      <a:srgbClr val="17583E"/>
                    </a:solidFill>
                  </a:tcPr>
                </a:tc>
                <a:tc>
                  <a:txBody>
                    <a:bodyPr lIns="114300" tIns="114300" rIns="114300" bIns="114300">
                      <a:noAutofit/>
                    </a:bodyPr>
                    <a:lstStyle/>
                    <a:p>
                      <a:r>
                        <a:rPr sz="1800" b="1">
                          <a:solidFill>
                            <a:srgbClr val="FFFFFF"/>
                          </a:solidFill>
                          <a:latin typeface="DejaVu Sans"/>
                          <a:ea typeface="DejaVu Sans"/>
                          <a:cs typeface="DejaVu Sans"/>
                        </a:rPr>
                        <a:t>Số ca</a:t>
                      </a:r>
                    </a:p>
                  </a:txBody>
                  <a:tcPr marL="91440" marR="91440" marT="45720" marB="45720" anchor="ctr">
                    <a:solidFill>
                      <a:srgbClr val="17583E"/>
                    </a:solidFill>
                  </a:tcPr>
                </a:tc>
              </a:tr>
              <a:tr h="427604">
                <a:tc>
                  <a:txBody>
                    <a:bodyPr lIns="114300" tIns="114300" rIns="114300" bIns="114300">
                      <a:noAutofit/>
                    </a:bodyPr>
                    <a:lstStyle/>
                    <a:p>
                      <a:r>
                        <a:rPr sz="1800" b="0">
                          <a:solidFill>
                            <a:srgbClr val="173729"/>
                          </a:solidFill>
                          <a:latin typeface="DejaVu Sans"/>
                          <a:ea typeface="DejaVu Sans"/>
                          <a:cs typeface="DejaVu Sans"/>
                        </a:rPr>
                        <a:t>shelfLife</a:t>
                      </a:r>
                    </a:p>
                  </a:txBody>
                  <a:tcPr marL="91440" marR="91440" marT="45720" marB="45720" anchor="ctr">
                    <a:solidFill>
                      <a:srgbClr val="FFFFFF"/>
                    </a:solidFill>
                  </a:tcPr>
                </a:tc>
                <a:tc>
                  <a:txBody>
                    <a:bodyPr lIns="114300" tIns="114300" rIns="114300" bIns="114300">
                      <a:noAutofit/>
                    </a:bodyPr>
                    <a:lstStyle/>
                    <a:p>
                      <a:r>
                        <a:rPr sz="1800" b="0">
                          <a:solidFill>
                            <a:srgbClr val="173729"/>
                          </a:solidFill>
                          <a:latin typeface="DejaVu Sans"/>
                          <a:ea typeface="DejaVu Sans"/>
                          <a:cs typeface="DejaVu Sans"/>
                        </a:rPr>
                        <a:t>33</a:t>
                      </a:r>
                    </a:p>
                  </a:txBody>
                  <a:tcPr marL="91440" marR="91440" marT="45720" marB="45720" anchor="ctr">
                    <a:solidFill>
                      <a:srgbClr val="FFFFFF"/>
                    </a:solidFill>
                  </a:tcPr>
                </a:tc>
              </a:tr>
              <a:tr h="427604">
                <a:tc>
                  <a:txBody>
                    <a:bodyPr lIns="114300" tIns="114300" rIns="114300" bIns="114300">
                      <a:noAutofit/>
                    </a:bodyPr>
                    <a:lstStyle/>
                    <a:p>
                      <a:r>
                        <a:rPr sz="1800" b="0">
                          <a:solidFill>
                            <a:srgbClr val="173729"/>
                          </a:solidFill>
                          <a:latin typeface="DejaVu Sans"/>
                          <a:ea typeface="DejaVu Sans"/>
                          <a:cs typeface="DejaVu Sans"/>
                        </a:rPr>
                        <a:t>lotStatus</a:t>
                      </a:r>
                    </a:p>
                  </a:txBody>
                  <a:tcPr marL="91440" marR="91440" marT="45720" marB="45720" anchor="ctr">
                    <a:solidFill>
                      <a:srgbClr val="EFF3EC"/>
                    </a:solidFill>
                  </a:tcPr>
                </a:tc>
                <a:tc>
                  <a:txBody>
                    <a:bodyPr lIns="114300" tIns="114300" rIns="114300" bIns="114300">
                      <a:noAutofit/>
                    </a:bodyPr>
                    <a:lstStyle/>
                    <a:p>
                      <a:r>
                        <a:rPr sz="1800" b="0">
                          <a:solidFill>
                            <a:srgbClr val="173729"/>
                          </a:solidFill>
                          <a:latin typeface="DejaVu Sans"/>
                          <a:ea typeface="DejaVu Sans"/>
                          <a:cs typeface="DejaVu Sans"/>
                        </a:rPr>
                        <a:t>11</a:t>
                      </a:r>
                    </a:p>
                  </a:txBody>
                  <a:tcPr marL="91440" marR="91440" marT="45720" marB="45720" anchor="ctr">
                    <a:solidFill>
                      <a:srgbClr val="EFF3EC"/>
                    </a:solidFill>
                  </a:tcPr>
                </a:tc>
              </a:tr>
              <a:tr h="427604">
                <a:tc>
                  <a:txBody>
                    <a:bodyPr lIns="114300" tIns="114300" rIns="114300" bIns="114300">
                      <a:noAutofit/>
                    </a:bodyPr>
                    <a:lstStyle/>
                    <a:p>
                      <a:r>
                        <a:rPr sz="1800" b="0">
                          <a:solidFill>
                            <a:srgbClr val="173729"/>
                          </a:solidFill>
                          <a:latin typeface="DejaVu Sans"/>
                          <a:ea typeface="DejaVu Sans"/>
                          <a:cs typeface="DejaVu Sans"/>
                        </a:rPr>
                        <a:t>lotCode</a:t>
                      </a:r>
                    </a:p>
                  </a:txBody>
                  <a:tcPr marL="91440" marR="91440" marT="45720" marB="45720" anchor="ctr">
                    <a:solidFill>
                      <a:srgbClr val="FFFFFF"/>
                    </a:solidFill>
                  </a:tcPr>
                </a:tc>
                <a:tc>
                  <a:txBody>
                    <a:bodyPr lIns="114300" tIns="114300" rIns="114300" bIns="114300">
                      <a:noAutofit/>
                    </a:bodyPr>
                    <a:lstStyle/>
                    <a:p>
                      <a:r>
                        <a:rPr sz="1800" b="0">
                          <a:solidFill>
                            <a:srgbClr val="173729"/>
                          </a:solidFill>
                          <a:latin typeface="DejaVu Sans"/>
                          <a:ea typeface="DejaVu Sans"/>
                          <a:cs typeface="DejaVu Sans"/>
                        </a:rPr>
                        <a:t>9</a:t>
                      </a:r>
                    </a:p>
                  </a:txBody>
                  <a:tcPr marL="91440" marR="91440" marT="45720" marB="45720" anchor="ctr">
                    <a:solidFill>
                      <a:srgbClr val="FFFFFF"/>
                    </a:solidFill>
                  </a:tcPr>
                </a:tc>
              </a:tr>
              <a:tr h="427604">
                <a:tc>
                  <a:txBody>
                    <a:bodyPr lIns="114300" tIns="114300" rIns="114300" bIns="114300">
                      <a:noAutofit/>
                    </a:bodyPr>
                    <a:lstStyle/>
                    <a:p>
                      <a:r>
                        <a:rPr sz="1800" b="0">
                          <a:solidFill>
                            <a:srgbClr val="173729"/>
                          </a:solidFill>
                          <a:latin typeface="DejaVu Sans"/>
                          <a:ea typeface="DejaVu Sans"/>
                          <a:cs typeface="DejaVu Sans"/>
                        </a:rPr>
                        <a:t>lotHolder</a:t>
                      </a:r>
                    </a:p>
                  </a:txBody>
                  <a:tcPr marL="91440" marR="91440" marT="45720" marB="45720" anchor="ctr">
                    <a:solidFill>
                      <a:srgbClr val="EFF3EC"/>
                    </a:solidFill>
                  </a:tcPr>
                </a:tc>
                <a:tc>
                  <a:txBody>
                    <a:bodyPr lIns="114300" tIns="114300" rIns="114300" bIns="114300">
                      <a:noAutofit/>
                    </a:bodyPr>
                    <a:lstStyle/>
                    <a:p>
                      <a:r>
                        <a:rPr sz="1800" b="0">
                          <a:solidFill>
                            <a:srgbClr val="173729"/>
                          </a:solidFill>
                          <a:latin typeface="DejaVu Sans"/>
                          <a:ea typeface="DejaVu Sans"/>
                          <a:cs typeface="DejaVu Sans"/>
                        </a:rPr>
                        <a:t>8</a:t>
                      </a:r>
                    </a:p>
                  </a:txBody>
                  <a:tcPr marL="91440" marR="91440" marT="45720" marB="45720" anchor="ctr">
                    <a:solidFill>
                      <a:srgbClr val="EFF3EC"/>
                    </a:solidFill>
                  </a:tcPr>
                </a:tc>
              </a:tr>
              <a:tr h="427604">
                <a:tc>
                  <a:txBody>
                    <a:bodyPr lIns="114300" tIns="114300" rIns="114300" bIns="114300">
                      <a:noAutofit/>
                    </a:bodyPr>
                    <a:lstStyle/>
                    <a:p>
                      <a:r>
                        <a:rPr sz="1800" b="0">
                          <a:solidFill>
                            <a:srgbClr val="173729"/>
                          </a:solidFill>
                          <a:latin typeface="DejaVu Sans"/>
                          <a:ea typeface="DejaVu Sans"/>
                          <a:cs typeface="DejaVu Sans"/>
                        </a:rPr>
                        <a:t>demoLots</a:t>
                      </a:r>
                    </a:p>
                  </a:txBody>
                  <a:tcPr marL="91440" marR="91440" marT="45720" marB="45720" anchor="ctr">
                    <a:solidFill>
                      <a:srgbClr val="FFFFFF"/>
                    </a:solidFill>
                  </a:tcPr>
                </a:tc>
                <a:tc>
                  <a:txBody>
                    <a:bodyPr lIns="114300" tIns="114300" rIns="114300" bIns="114300">
                      <a:noAutofit/>
                    </a:bodyPr>
                    <a:lstStyle/>
                    <a:p>
                      <a:r>
                        <a:rPr sz="1800" b="0">
                          <a:solidFill>
                            <a:srgbClr val="173729"/>
                          </a:solidFill>
                          <a:latin typeface="DejaVu Sans"/>
                          <a:ea typeface="DejaVu Sans"/>
                          <a:cs typeface="DejaVu Sans"/>
                        </a:rPr>
                        <a:t>7</a:t>
                      </a:r>
                    </a:p>
                  </a:txBody>
                  <a:tcPr marL="91440" marR="91440" marT="45720" marB="45720" anchor="ctr">
                    <a:solidFill>
                      <a:srgbClr val="FFFFFF"/>
                    </a:solidFill>
                  </a:tcPr>
                </a:tc>
              </a:tr>
              <a:tr h="427604">
                <a:tc>
                  <a:txBody>
                    <a:bodyPr lIns="114300" tIns="114300" rIns="114300" bIns="114300">
                      <a:noAutofit/>
                    </a:bodyPr>
                    <a:lstStyle/>
                    <a:p>
                      <a:r>
                        <a:rPr sz="1800" b="0">
                          <a:solidFill>
                            <a:srgbClr val="173729"/>
                          </a:solidFill>
                          <a:latin typeface="DejaVu Sans"/>
                          <a:ea typeface="DejaVu Sans"/>
                          <a:cs typeface="DejaVu Sans"/>
                        </a:rPr>
                        <a:t>base64</a:t>
                      </a:r>
                    </a:p>
                  </a:txBody>
                  <a:tcPr marL="91440" marR="91440" marT="45720" marB="45720" anchor="ctr">
                    <a:solidFill>
                      <a:srgbClr val="EFF3EC"/>
                    </a:solidFill>
                  </a:tcPr>
                </a:tc>
                <a:tc>
                  <a:txBody>
                    <a:bodyPr lIns="114300" tIns="114300" rIns="114300" bIns="114300">
                      <a:noAutofit/>
                    </a:bodyPr>
                    <a:lstStyle/>
                    <a:p>
                      <a:r>
                        <a:rPr sz="1800" b="0">
                          <a:solidFill>
                            <a:srgbClr val="173729"/>
                          </a:solidFill>
                          <a:latin typeface="DejaVu Sans"/>
                          <a:ea typeface="DejaVu Sans"/>
                          <a:cs typeface="DejaVu Sans"/>
                        </a:rPr>
                        <a:t>5</a:t>
                      </a:r>
                    </a:p>
                  </a:txBody>
                  <a:tcPr marL="91440" marR="91440" marT="45720" marB="45720" anchor="ctr">
                    <a:solidFill>
                      <a:srgbClr val="EFF3EC"/>
                    </a:solidFill>
                  </a:tcPr>
                </a:tc>
              </a:tr>
            </a:tbl>
          </a:graphicData>
        </a:graphic>
      </p:graphicFrame>
      <p:sp>
        <p:nvSpPr>
          <p:cNvPr id="6" name="text-Kiểm thử logic bằng Jest">
            <a:extLst xmlns:a="http://schemas.openxmlformats.org/drawingml/2006/main">
              <a:ext uri="{FF2B5EF4-FFF2-40B4-BE49-F238E27FC236}">
                <a16:creationId xmlns:a16="http://schemas.microsoft.com/office/drawing/2014/main" id="{2379C141-94D2-4A01-827D-86E7C6DF1E6B}"/>
              </a:ext>
            </a:extLst>
          </p:cNvPr>
          <p:cNvSpPr>
            <a:spLocks xmlns:a="http://schemas.openxmlformats.org/drawingml/2006/main" noGrp="1"/>
          </p:cNvSpPr>
          <p:nvPr/>
        </p:nvSpPr>
        <p:spPr>
          <a:xfrm xmlns:a="http://schemas.openxmlformats.org/drawingml/2006/main">
            <a:off x="609600" y="4260056"/>
            <a:ext cx="5905500" cy="314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95" b="1">
                <a:solidFill>
                  <a:srgbClr val="173729"/>
                </a:solidFill>
                <a:latin typeface="DejaVu Sans"/>
                <a:ea typeface="DejaVu Sans"/>
                <a:cs typeface="DejaVu Sans"/>
              </a:defRPr>
            </a:defPPr>
          </a:lstStyle>
          <a:p xmlns:a="http://schemas.openxmlformats.org/drawingml/2006/main">
            <a:pPr algn="l">
              <a:buNone/>
              <a:defRPr sz="2100" b="1">
                <a:solidFill>
                  <a:srgbClr val="173729"/>
                </a:solidFill>
                <a:latin typeface="DejaVu Sans"/>
                <a:ea typeface="DejaVu Sans"/>
                <a:cs typeface="DejaVu Sans"/>
              </a:defRPr>
            </a:pPr>
            <a:r>
              <a:rPr sz="1995" b="1">
                <a:solidFill>
                  <a:srgbClr val="173729"/>
                </a:solidFill>
                <a:latin typeface="DejaVu Sans"/>
                <a:ea typeface="DejaVu Sans"/>
                <a:cs typeface="DejaVu Sans"/>
              </a:rPr>
              <a:t>Kiểm thử logic bằng Jest</a:t>
            </a:r>
          </a:p>
        </p:txBody>
      </p:sp>
      <p:sp>
        <p:nvSpPr>
          <p:cNvPr id="7" name="text-Công thức, trạng thái, mã lô">
            <a:extLst xmlns:a="http://schemas.openxmlformats.org/drawingml/2006/main">
              <a:ext uri="{FF2B5EF4-FFF2-40B4-BE49-F238E27FC236}">
                <a16:creationId xmlns:a16="http://schemas.microsoft.com/office/drawing/2014/main" id="{769285C0-8455-4C0B-A75E-1BB738FCFCF8}"/>
              </a:ext>
            </a:extLst>
          </p:cNvPr>
          <p:cNvSpPr>
            <a:spLocks xmlns:a="http://schemas.openxmlformats.org/drawingml/2006/main" noGrp="1"/>
          </p:cNvSpPr>
          <p:nvPr/>
        </p:nvSpPr>
        <p:spPr>
          <a:xfrm xmlns:a="http://schemas.openxmlformats.org/drawingml/2006/main">
            <a:off x="609600" y="4638675"/>
            <a:ext cx="5905500"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81" b="0">
                <a:solidFill>
                  <a:srgbClr val="62746A"/>
                </a:solidFill>
                <a:latin typeface="DejaVu Sans"/>
                <a:ea typeface="DejaVu Sans"/>
                <a:cs typeface="DejaVu Sans"/>
              </a:defRPr>
            </a:defPPr>
          </a:lstStyle>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Công thức, trạng thái, mã lô</a:t>
            </a:r>
          </a:p>
          <a:p xmlns:a="http://schemas.openxmlformats.org/drawingml/2006/main">
            <a:pPr algn="l">
              <a:buNone/>
              <a:defRPr sz="1875" b="0">
                <a:solidFill>
                  <a:srgbClr val="62746A"/>
                </a:solidFill>
                <a:latin typeface="DejaVu Sans"/>
                <a:ea typeface="DejaVu Sans"/>
                <a:cs typeface="DejaVu Sans"/>
              </a:defRPr>
            </a:pPr>
            <a:r>
              <a:rPr sz="1781" b="0">
                <a:solidFill>
                  <a:srgbClr val="62746A"/>
                </a:solidFill>
                <a:latin typeface="DejaVu Sans"/>
                <a:ea typeface="DejaVu Sans"/>
                <a:cs typeface="DejaVu Sans"/>
              </a:rPr>
              <a:t>và phân loại tình huống quét</a:t>
            </a:r>
          </a:p>
        </p:txBody>
      </p:sp>
      <p:sp>
        <p:nvSpPr>
          <p:cNvPr id="8" name="text-Thử luồng chức năng trên And">
            <a:extLst xmlns:a="http://schemas.openxmlformats.org/drawingml/2006/main">
              <a:ext uri="{FF2B5EF4-FFF2-40B4-BE49-F238E27FC236}">
                <a16:creationId xmlns:a16="http://schemas.microsoft.com/office/drawing/2014/main" id="{A7FA2F0A-61BB-40DE-BF3B-244B342DE973}"/>
              </a:ext>
            </a:extLst>
          </p:cNvPr>
          <p:cNvSpPr>
            <a:spLocks xmlns:a="http://schemas.openxmlformats.org/drawingml/2006/main" noGrp="1"/>
          </p:cNvSpPr>
          <p:nvPr/>
        </p:nvSpPr>
        <p:spPr>
          <a:xfrm xmlns:a="http://schemas.openxmlformats.org/drawingml/2006/main">
            <a:off x="609600" y="5660231"/>
            <a:ext cx="10972800" cy="335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1">
                <a:solidFill>
                  <a:srgbClr val="17583E"/>
                </a:solidFill>
                <a:latin typeface="DejaVu Sans"/>
                <a:ea typeface="DejaVu Sans"/>
                <a:cs typeface="DejaVu Sans"/>
              </a:defRPr>
            </a:defPPr>
          </a:lstStyle>
          <a:p xmlns:a="http://schemas.openxmlformats.org/drawingml/2006/main">
            <a:pPr algn="l">
              <a:buNone/>
              <a:defRPr sz="2175" b="1">
                <a:solidFill>
                  <a:srgbClr val="17583E"/>
                </a:solidFill>
                <a:latin typeface="DejaVu Sans"/>
                <a:ea typeface="DejaVu Sans"/>
                <a:cs typeface="DejaVu Sans"/>
              </a:defRPr>
            </a:pPr>
            <a:r>
              <a:rPr sz="2066" b="1">
                <a:solidFill>
                  <a:srgbClr val="17583E"/>
                </a:solidFill>
                <a:latin typeface="DejaVu Sans"/>
                <a:ea typeface="DejaVu Sans"/>
                <a:cs typeface="DejaVu Sans"/>
              </a:rPr>
              <a:t>Thử luồng chức năng trên Android thật</a:t>
            </a:r>
          </a:p>
        </p:txBody>
      </p:sp>
      <p:pic>
        <p:nvPicPr>
          <p:cNvPr id="10" name="">
            <a:extLst xmlns:a="http://schemas.openxmlformats.org/drawingml/2006/main">
              <a:ext uri="{FF2B5EF4-FFF2-40B4-BE49-F238E27FC236}">
                <a16:creationId xmlns:a16="http://schemas.microsoft.com/office/drawing/2014/main" id="{B311B40F-2AB4-47FE-9F17-16D3575446D3}"/>
              </a:ext>
            </a:extLst>
          </p:cNvPr>
          <p:cNvPicPr>
            <a:picLocks xmlns:a="http://schemas.openxmlformats.org/drawingml/2006/main" noChangeAspect="1"/>
          </p:cNvPicPr>
          <p:nvPr/>
        </p:nvPicPr>
        <p:blipFill>
          <a:blip xmlns:r="http://schemas.openxmlformats.org/officeDocument/2006/relationships" xmlns:a="http://schemas.openxmlformats.org/drawingml/2006/main" r:embed="R6e773c51557547a7"/>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815241429"/>
      </p:ext>
    </p:extLst>
  </p:cSld>
</p:sld>
</file>

<file path=ppt/slides/slide12.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8" name="text-Kết luận và hướng phát triển">
            <a:extLst xmlns:a="http://schemas.openxmlformats.org/drawingml/2006/main">
              <a:ext uri="{FF2B5EF4-FFF2-40B4-BE49-F238E27FC236}">
                <a16:creationId xmlns:a16="http://schemas.microsoft.com/office/drawing/2014/main" id="{95DB5B02-FD70-4B52-9D03-0FF5595A7A3D}"/>
              </a:ext>
            </a:extLst>
          </p:cNvPr>
          <p:cNvSpPr>
            <a:spLocks xmlns:a="http://schemas.openxmlformats.org/drawingml/2006/main" noGrp="1"/>
          </p:cNvSpPr>
          <p:nvPr/>
        </p:nvSpPr>
        <p:spPr>
          <a:xfrm xmlns:a="http://schemas.openxmlformats.org/drawingml/2006/main">
            <a:off x="609600" y="1788319"/>
            <a:ext cx="10972800" cy="6715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7583E"/>
                </a:solidFill>
                <a:latin typeface="DejaVu Sans"/>
                <a:ea typeface="DejaVu Sans"/>
                <a:cs typeface="DejaVu Sans"/>
              </a:defRPr>
            </a:defPPr>
          </a:lstStyle>
          <a:p xmlns:a="http://schemas.openxmlformats.org/drawingml/2006/main">
            <a:pPr algn="l">
              <a:buNone/>
              <a:defRPr sz="3450" b="1">
                <a:solidFill>
                  <a:srgbClr val="17583E"/>
                </a:solidFill>
                <a:latin typeface="DejaVu Sans"/>
                <a:ea typeface="DejaVu Sans"/>
                <a:cs typeface="DejaVu Sans"/>
              </a:defRPr>
            </a:pPr>
            <a:r>
              <a:rPr sz="3450" b="1">
                <a:solidFill>
                  <a:srgbClr val="17583E"/>
                </a:solidFill>
                <a:latin typeface="DejaVu Sans"/>
                <a:ea typeface="DejaVu Sans"/>
                <a:cs typeface="DejaVu Sans"/>
              </a:rPr>
              <a:t>Kết luận và hướng phát triển</a:t>
            </a:r>
          </a:p>
        </p:txBody>
      </p:sp>
      <p:sp>
        <p:nvSpPr>
          <p:cNvPr id="2" name="text-12">
            <a:extLst xmlns:a="http://schemas.openxmlformats.org/drawingml/2006/main">
              <a:ext uri="{FF2B5EF4-FFF2-40B4-BE49-F238E27FC236}">
                <a16:creationId xmlns:a16="http://schemas.microsoft.com/office/drawing/2014/main" id="{3115D558-E7E7-4D7A-A7DB-B6FA11469884}"/>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62746A"/>
                </a:solidFill>
                <a:latin typeface="DejaVu Sans"/>
                <a:ea typeface="DejaVu Sans"/>
                <a:cs typeface="DejaVu Sans"/>
              </a:defRPr>
            </a:pPr>
            <a:r>
              <a:rPr sz="1200" b="0">
                <a:solidFill>
                  <a:srgbClr val="536C7B"/>
                </a:solidFill>
                <a:latin typeface="DejaVu Sans"/>
                <a:ea typeface="DejaVu Sans"/>
                <a:cs typeface="DejaVu Sans"/>
              </a:rPr>
              <a:t>12</a:t>
            </a:r>
          </a:p>
        </p:txBody>
      </p:sp>
      <p:sp>
        <p:nvSpPr>
          <p:cNvPr id="3" name="text-Kết quả đạt được">
            <a:extLst xmlns:a="http://schemas.openxmlformats.org/drawingml/2006/main">
              <a:ext uri="{FF2B5EF4-FFF2-40B4-BE49-F238E27FC236}">
                <a16:creationId xmlns:a16="http://schemas.microsoft.com/office/drawing/2014/main" id="{1DB69E7F-3AAA-4ABA-9913-74FE8F9DFCC6}"/>
              </a:ext>
            </a:extLst>
          </p:cNvPr>
          <p:cNvSpPr>
            <a:spLocks xmlns:a="http://schemas.openxmlformats.org/drawingml/2006/main" noGrp="1"/>
          </p:cNvSpPr>
          <p:nvPr/>
        </p:nvSpPr>
        <p:spPr>
          <a:xfrm xmlns:a="http://schemas.openxmlformats.org/drawingml/2006/main">
            <a:off x="609600" y="2688431"/>
            <a:ext cx="49530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94" b="1">
                <a:solidFill>
                  <a:srgbClr val="17583E"/>
                </a:solidFill>
                <a:latin typeface="DejaVu Sans"/>
                <a:ea typeface="DejaVu Sans"/>
                <a:cs typeface="DejaVu Sans"/>
              </a:defRPr>
            </a:defPPr>
          </a:lstStyle>
          <a:p xmlns:a="http://schemas.openxmlformats.org/drawingml/2006/main">
            <a:pPr algn="l">
              <a:buNone/>
              <a:defRPr sz="2625" b="1">
                <a:solidFill>
                  <a:srgbClr val="17583E"/>
                </a:solidFill>
                <a:latin typeface="DejaVu Sans"/>
                <a:ea typeface="DejaVu Sans"/>
                <a:cs typeface="DejaVu Sans"/>
              </a:defRPr>
            </a:pPr>
            <a:r>
              <a:rPr sz="2494" b="1">
                <a:solidFill>
                  <a:srgbClr val="17583E"/>
                </a:solidFill>
                <a:latin typeface="DejaVu Sans"/>
                <a:ea typeface="DejaVu Sans"/>
                <a:cs typeface="DejaVu Sans"/>
              </a:rPr>
              <a:t>Kết quả đạt được</a:t>
            </a:r>
          </a:p>
        </p:txBody>
      </p:sp>
      <p:sp>
        <p:nvSpPr>
          <p:cNvPr id="4" name="text-Hoàn thành luồng quản lý lô&#10;">
            <a:extLst xmlns:a="http://schemas.openxmlformats.org/drawingml/2006/main">
              <a:ext uri="{FF2B5EF4-FFF2-40B4-BE49-F238E27FC236}">
                <a16:creationId xmlns:a16="http://schemas.microsoft.com/office/drawing/2014/main" id="{1017029D-3FFB-46EE-9D7D-38F1A6B82588}"/>
              </a:ext>
            </a:extLst>
          </p:cNvPr>
          <p:cNvSpPr>
            <a:spLocks xmlns:a="http://schemas.openxmlformats.org/drawingml/2006/main" noGrp="1"/>
          </p:cNvSpPr>
          <p:nvPr/>
        </p:nvSpPr>
        <p:spPr>
          <a:xfrm xmlns:a="http://schemas.openxmlformats.org/drawingml/2006/main">
            <a:off x="609600" y="332422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0">
                <a:solidFill>
                  <a:srgbClr val="173729"/>
                </a:solidFill>
                <a:latin typeface="DejaVu Sans"/>
                <a:ea typeface="DejaVu Sans"/>
                <a:cs typeface="DejaVu Sans"/>
              </a:defRPr>
            </a:defPPr>
          </a:lstStyle>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Hoàn thành luồng quản lý lô</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Tích hợp app, Firebase và IoT</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Chạy mô hình AI trên điện thoại</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Tính tiêu hao theo từng giai đoạn</a:t>
            </a:r>
          </a:p>
        </p:txBody>
      </p:sp>
      <p:sp>
        <p:nvSpPr>
          <p:cNvPr id="5" name="text-Nội dung cần hoàn thiện">
            <a:extLst xmlns:a="http://schemas.openxmlformats.org/drawingml/2006/main">
              <a:ext uri="{FF2B5EF4-FFF2-40B4-BE49-F238E27FC236}">
                <a16:creationId xmlns:a16="http://schemas.microsoft.com/office/drawing/2014/main" id="{4ADC2E20-B150-4024-B6CF-6BE10DE5C718}"/>
              </a:ext>
            </a:extLst>
          </p:cNvPr>
          <p:cNvSpPr>
            <a:spLocks xmlns:a="http://schemas.openxmlformats.org/drawingml/2006/main" noGrp="1"/>
          </p:cNvSpPr>
          <p:nvPr/>
        </p:nvSpPr>
        <p:spPr>
          <a:xfrm xmlns:a="http://schemas.openxmlformats.org/drawingml/2006/main">
            <a:off x="6657975" y="2688431"/>
            <a:ext cx="4924425"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23" b="1">
                <a:solidFill>
                  <a:srgbClr val="17583E"/>
                </a:solidFill>
                <a:latin typeface="DejaVu Sans"/>
                <a:ea typeface="DejaVu Sans"/>
                <a:cs typeface="DejaVu Sans"/>
              </a:defRPr>
            </a:defPPr>
          </a:lstStyle>
          <a:p xmlns:a="http://schemas.openxmlformats.org/drawingml/2006/main">
            <a:pPr algn="l">
              <a:buNone/>
              <a:defRPr sz="2550" b="1">
                <a:solidFill>
                  <a:srgbClr val="17583E"/>
                </a:solidFill>
                <a:latin typeface="DejaVu Sans"/>
                <a:ea typeface="DejaVu Sans"/>
                <a:cs typeface="DejaVu Sans"/>
              </a:defRPr>
            </a:pPr>
            <a:r>
              <a:rPr sz="2423" b="1">
                <a:solidFill>
                  <a:srgbClr val="17583E"/>
                </a:solidFill>
                <a:latin typeface="DejaVu Sans"/>
                <a:ea typeface="DejaVu Sans"/>
                <a:cs typeface="DejaVu Sans"/>
              </a:rPr>
              <a:t>Nội dung cần hoàn thiện</a:t>
            </a:r>
          </a:p>
        </p:txBody>
      </p:sp>
      <p:sp>
        <p:nvSpPr>
          <p:cNvPr id="6" name="text-Bổ sung ảnh thực tế cho AI&#10;H">
            <a:extLst xmlns:a="http://schemas.openxmlformats.org/drawingml/2006/main">
              <a:ext uri="{FF2B5EF4-FFF2-40B4-BE49-F238E27FC236}">
                <a16:creationId xmlns:a16="http://schemas.microsoft.com/office/drawing/2014/main" id="{20CDF499-BD2E-4094-9A0E-A691FA0394DB}"/>
              </a:ext>
            </a:extLst>
          </p:cNvPr>
          <p:cNvSpPr>
            <a:spLocks xmlns:a="http://schemas.openxmlformats.org/drawingml/2006/main" noGrp="1"/>
          </p:cNvSpPr>
          <p:nvPr/>
        </p:nvSpPr>
        <p:spPr>
          <a:xfrm xmlns:a="http://schemas.openxmlformats.org/drawingml/2006/main">
            <a:off x="6657975" y="3324225"/>
            <a:ext cx="49244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66" b="0">
                <a:solidFill>
                  <a:srgbClr val="173729"/>
                </a:solidFill>
                <a:latin typeface="DejaVu Sans"/>
                <a:ea typeface="DejaVu Sans"/>
                <a:cs typeface="DejaVu Sans"/>
              </a:defRPr>
            </a:defPPr>
          </a:lstStyle>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Bổ sung ảnh thực tế cho AI</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Hiệu chuẩn hệ số vòng đời</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Siết Rules và xử lý nhận đồng thời</a:t>
            </a:r>
          </a:p>
          <a:p xmlns:a="http://schemas.openxmlformats.org/drawingml/2006/main">
            <a:pPr algn="l">
              <a:buNone/>
              <a:defRPr sz="2175" b="0">
                <a:solidFill>
                  <a:srgbClr val="173729"/>
                </a:solidFill>
                <a:latin typeface="DejaVu Sans"/>
                <a:ea typeface="DejaVu Sans"/>
                <a:cs typeface="DejaVu Sans"/>
              </a:defRPr>
            </a:pPr>
            <a:r>
              <a:rPr sz="2066" b="0">
                <a:solidFill>
                  <a:srgbClr val="173729"/>
                </a:solidFill>
                <a:latin typeface="DejaVu Sans"/>
                <a:ea typeface="DejaVu Sans"/>
                <a:cs typeface="DejaVu Sans"/>
              </a:rPr>
              <a:t>Kiểm thử mất điện, mất mạng</a:t>
            </a:r>
          </a:p>
        </p:txBody>
      </p:sp>
      <p:sp>
        <p:nvSpPr>
          <p:cNvPr id="7" name="text-Hạn sử dụng hiện là ước lượn">
            <a:extLst xmlns:a="http://schemas.openxmlformats.org/drawingml/2006/main">
              <a:ext uri="{FF2B5EF4-FFF2-40B4-BE49-F238E27FC236}">
                <a16:creationId xmlns:a16="http://schemas.microsoft.com/office/drawing/2014/main" id="{A155C769-D8C5-414E-93C2-33F447A56871}"/>
              </a:ext>
            </a:extLst>
          </p:cNvPr>
          <p:cNvSpPr>
            <a:spLocks xmlns:a="http://schemas.openxmlformats.org/drawingml/2006/main" noGrp="1"/>
          </p:cNvSpPr>
          <p:nvPr/>
        </p:nvSpPr>
        <p:spPr>
          <a:xfrm xmlns:a="http://schemas.openxmlformats.org/drawingml/2006/main">
            <a:off x="609600" y="5660231"/>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38" b="0">
                <a:solidFill>
                  <a:srgbClr val="B76817"/>
                </a:solidFill>
                <a:latin typeface="DejaVu Sans"/>
                <a:ea typeface="DejaVu Sans"/>
                <a:cs typeface="DejaVu Sans"/>
              </a:defRPr>
            </a:defPPr>
          </a:lstStyle>
          <a:p xmlns:a="http://schemas.openxmlformats.org/drawingml/2006/main">
            <a:pPr algn="l">
              <a:buNone/>
              <a:defRPr sz="2250" b="0">
                <a:solidFill>
                  <a:srgbClr val="B76817"/>
                </a:solidFill>
                <a:latin typeface="DejaVu Sans"/>
                <a:ea typeface="DejaVu Sans"/>
                <a:cs typeface="DejaVu Sans"/>
              </a:defRPr>
            </a:pPr>
            <a:r>
              <a:rPr sz="2138" b="0">
                <a:solidFill>
                  <a:srgbClr val="B76817"/>
                </a:solidFill>
                <a:latin typeface="DejaVu Sans"/>
                <a:ea typeface="DejaVu Sans"/>
                <a:cs typeface="DejaVu Sans"/>
              </a:rPr>
              <a:t>Hạn sử dụng hiện là ước lượng hỗ trợ ưu tiên xử lý hàng</a:t>
            </a:r>
          </a:p>
        </p:txBody>
      </p:sp>
      <p:pic>
        <p:nvPicPr>
          <p:cNvPr id="9" name="">
            <a:extLst xmlns:a="http://schemas.openxmlformats.org/drawingml/2006/main">
              <a:ext uri="{FF2B5EF4-FFF2-40B4-BE49-F238E27FC236}">
                <a16:creationId xmlns:a16="http://schemas.microsoft.com/office/drawing/2014/main" id="{875FE054-2442-490D-8051-13DACAE0AED5}"/>
              </a:ext>
            </a:extLst>
          </p:cNvPr>
          <p:cNvPicPr>
            <a:picLocks xmlns:a="http://schemas.openxmlformats.org/drawingml/2006/main" noChangeAspect="1"/>
          </p:cNvPicPr>
          <p:nvPr/>
        </p:nvPicPr>
        <p:blipFill>
          <a:blip xmlns:r="http://schemas.openxmlformats.org/officeDocument/2006/relationships" xmlns:a="http://schemas.openxmlformats.org/drawingml/2006/main" r:embed="Ra3d584f017604920"/>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1095718610"/>
      </p:ext>
    </p:extLst>
  </p:cSld>
</p:sld>
</file>

<file path=ppt/slides/slide13.xml><?xml version="1.0" encoding="utf-8"?>
<p:sld xmlns:p="http://schemas.openxmlformats.org/presentationml/2006/main">
  <p:cSld>
    <p:bg>
      <p:bgPr>
        <a:solidFill xmlns:a="http://schemas.openxmlformats.org/drawingml/2006/main">
          <a:srgbClr val="F3F9FF"/>
        </a:solidFill>
      </p:bgPr>
    </p:bg>
    <p:spTree>
      <p:nvGrpSpPr>
        <p:cNvPr id="1" name=""/>
        <p:cNvGrpSpPr/>
        <p:nvPr/>
      </p:nvGrpSpPr>
      <p:grpSpPr>
        <a:xfrm xmlns:a="http://schemas.openxmlformats.org/drawingml/2006/main"/>
      </p:grpSpPr>
      <p:sp>
        <p:nvSpPr>
          <p:cNvPr id="5" name="text-13">
            <a:extLst xmlns:a="http://schemas.openxmlformats.org/drawingml/2006/main">
              <a:ext uri="{FF2B5EF4-FFF2-40B4-BE49-F238E27FC236}">
                <a16:creationId xmlns:a16="http://schemas.microsoft.com/office/drawing/2014/main" id="{01B43AE9-126C-4DD5-B9CB-AA05F5177081}"/>
              </a:ext>
            </a:extLst>
          </p:cNvPr>
          <p:cNvSpPr>
            <a:spLocks xmlns:a="http://schemas.openxmlformats.org/drawingml/2006/main" noGrp="1"/>
          </p:cNvSpPr>
          <p:nvPr/>
        </p:nvSpPr>
        <p:spPr>
          <a:xfrm xmlns:a="http://schemas.openxmlformats.org/drawingml/2006/main">
            <a:off x="11239500" y="643890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C7B"/>
                </a:solidFill>
                <a:latin typeface="DejaVu Sans"/>
                <a:ea typeface="DejaVu Sans"/>
                <a:cs typeface="DejaVu Sans"/>
              </a:defRPr>
            </a:defPPr>
          </a:lstStyle>
          <a:p xmlns:a="http://schemas.openxmlformats.org/drawingml/2006/main">
            <a:pPr algn="r">
              <a:buNone/>
              <a:defRPr sz="1200" b="0">
                <a:solidFill>
                  <a:srgbClr val="D8E9DD"/>
                </a:solidFill>
                <a:latin typeface="DejaVu Sans"/>
                <a:ea typeface="DejaVu Sans"/>
                <a:cs typeface="DejaVu Sans"/>
              </a:defRPr>
            </a:pPr>
            <a:r>
              <a:rPr sz="1200" b="0">
                <a:solidFill>
                  <a:srgbClr val="536C7B"/>
                </a:solidFill>
                <a:latin typeface="DejaVu Sans"/>
                <a:ea typeface="DejaVu Sans"/>
                <a:cs typeface="DejaVu Sans"/>
              </a:rPr>
              <a:t>13</a:t>
            </a:r>
          </a:p>
        </p:txBody>
      </p:sp>
      <p:sp>
        <p:nvSpPr>
          <p:cNvPr id="2" name="text-XIN CẢM ƠN">
            <a:extLst xmlns:a="http://schemas.openxmlformats.org/drawingml/2006/main">
              <a:ext uri="{FF2B5EF4-FFF2-40B4-BE49-F238E27FC236}">
                <a16:creationId xmlns:a16="http://schemas.microsoft.com/office/drawing/2014/main" id="{7642119D-CCD5-4449-82C0-FD260978180D}"/>
              </a:ext>
            </a:extLst>
          </p:cNvPr>
          <p:cNvSpPr>
            <a:spLocks xmlns:a="http://schemas.openxmlformats.org/drawingml/2006/main" noGrp="1"/>
          </p:cNvSpPr>
          <p:nvPr/>
        </p:nvSpPr>
        <p:spPr>
          <a:xfrm xmlns:a="http://schemas.openxmlformats.org/drawingml/2006/main">
            <a:off x="609600" y="3038475"/>
            <a:ext cx="10972800" cy="900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920" b="1">
                <a:solidFill>
                  <a:srgbClr val="173E58"/>
                </a:solidFill>
                <a:latin typeface="DejaVu Sans"/>
                <a:ea typeface="DejaVu Sans"/>
                <a:cs typeface="DejaVu Sans"/>
              </a:defRPr>
            </a:defPPr>
          </a:lstStyle>
          <a:p xmlns:a="http://schemas.openxmlformats.org/drawingml/2006/main">
            <a:pPr algn="ctr">
              <a:buNone/>
              <a:defRPr sz="6000" b="1">
                <a:solidFill>
                  <a:srgbClr val="FFFFFF"/>
                </a:solidFill>
                <a:latin typeface="DejaVu Sans"/>
                <a:ea typeface="DejaVu Sans"/>
                <a:cs typeface="DejaVu Sans"/>
              </a:defRPr>
            </a:pPr>
            <a:r>
              <a:rPr sz="4920" b="1">
                <a:solidFill>
                  <a:srgbClr val="173E58"/>
                </a:solidFill>
                <a:latin typeface="DejaVu Sans"/>
                <a:ea typeface="DejaVu Sans"/>
                <a:cs typeface="DejaVu Sans"/>
              </a:rPr>
              <a:t>XIN CẢM ƠN</a:t>
            </a:r>
          </a:p>
        </p:txBody>
      </p:sp>
      <p:sp>
        <p:nvSpPr>
          <p:cNvPr id="3" name="text-Thầy và các bạn đã lắng nghe">
            <a:extLst xmlns:a="http://schemas.openxmlformats.org/drawingml/2006/main">
              <a:ext uri="{FF2B5EF4-FFF2-40B4-BE49-F238E27FC236}">
                <a16:creationId xmlns:a16="http://schemas.microsoft.com/office/drawing/2014/main" id="{2618E9C8-E7A2-40A6-A96B-6F733BFC23E6}"/>
              </a:ext>
            </a:extLst>
          </p:cNvPr>
          <p:cNvSpPr>
            <a:spLocks xmlns:a="http://schemas.openxmlformats.org/drawingml/2006/main" noGrp="1"/>
          </p:cNvSpPr>
          <p:nvPr/>
        </p:nvSpPr>
        <p:spPr>
          <a:xfrm xmlns:a="http://schemas.openxmlformats.org/drawingml/2006/main">
            <a:off x="609600" y="40957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08" b="0">
                <a:solidFill>
                  <a:srgbClr val="536C7B"/>
                </a:solidFill>
                <a:latin typeface="DejaVu Sans"/>
                <a:ea typeface="DejaVu Sans"/>
                <a:cs typeface="DejaVu Sans"/>
              </a:defRPr>
            </a:defPPr>
          </a:lstStyle>
          <a:p xmlns:a="http://schemas.openxmlformats.org/drawingml/2006/main">
            <a:pPr algn="ctr">
              <a:buNone/>
              <a:defRPr sz="2850" b="0">
                <a:solidFill>
                  <a:srgbClr val="E3EFE5"/>
                </a:solidFill>
                <a:latin typeface="DejaVu Sans"/>
                <a:ea typeface="DejaVu Sans"/>
                <a:cs typeface="DejaVu Sans"/>
              </a:defRPr>
            </a:pPr>
            <a:r>
              <a:rPr sz="2708" b="0">
                <a:solidFill>
                  <a:srgbClr val="536C7B"/>
                </a:solidFill>
                <a:latin typeface="DejaVu Sans"/>
                <a:ea typeface="DejaVu Sans"/>
                <a:cs typeface="DejaVu Sans"/>
              </a:rPr>
              <a:t>Thầy và các bạn đã lắng nghe</a:t>
            </a:r>
          </a:p>
        </p:txBody>
      </p:sp>
      <p:sp>
        <p:nvSpPr>
          <p:cNvPr id="4" name="text-Nhóm FruitTrace">
            <a:extLst xmlns:a="http://schemas.openxmlformats.org/drawingml/2006/main">
              <a:ext uri="{FF2B5EF4-FFF2-40B4-BE49-F238E27FC236}">
                <a16:creationId xmlns:a16="http://schemas.microsoft.com/office/drawing/2014/main" id="{FED1551F-00CA-4A3B-B7A0-2EFF56D3FA22}"/>
              </a:ext>
            </a:extLst>
          </p:cNvPr>
          <p:cNvSpPr>
            <a:spLocks xmlns:a="http://schemas.openxmlformats.org/drawingml/2006/main" noGrp="1"/>
          </p:cNvSpPr>
          <p:nvPr/>
        </p:nvSpPr>
        <p:spPr>
          <a:xfrm xmlns:a="http://schemas.openxmlformats.org/drawingml/2006/main">
            <a:off x="609600" y="5131594"/>
            <a:ext cx="109728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95" b="0">
                <a:solidFill>
                  <a:srgbClr val="536C7B"/>
                </a:solidFill>
                <a:latin typeface="DejaVu Sans"/>
                <a:ea typeface="DejaVu Sans"/>
                <a:cs typeface="DejaVu Sans"/>
              </a:defRPr>
            </a:defPPr>
          </a:lstStyle>
          <a:p xmlns:a="http://schemas.openxmlformats.org/drawingml/2006/main">
            <a:pPr algn="ctr">
              <a:buNone/>
              <a:defRPr sz="2100" b="0">
                <a:solidFill>
                  <a:srgbClr val="D5E8D9"/>
                </a:solidFill>
                <a:latin typeface="DejaVu Sans"/>
                <a:ea typeface="DejaVu Sans"/>
                <a:cs typeface="DejaVu Sans"/>
              </a:defRPr>
            </a:pPr>
            <a:r>
              <a:rPr sz="1995" b="0">
                <a:solidFill>
                  <a:srgbClr val="536C7B"/>
                </a:solidFill>
                <a:latin typeface="DejaVu Sans"/>
                <a:ea typeface="DejaVu Sans"/>
                <a:cs typeface="DejaVu Sans"/>
              </a:rPr>
              <a:t>Nhóm FruitTrace</a:t>
            </a:r>
          </a:p>
        </p:txBody>
      </p:sp>
      <p:pic>
        <p:nvPicPr>
          <p:cNvPr id="6" name="">
            <a:extLst xmlns:a="http://schemas.openxmlformats.org/drawingml/2006/main">
              <a:ext uri="{FF2B5EF4-FFF2-40B4-BE49-F238E27FC236}">
                <a16:creationId xmlns:a16="http://schemas.microsoft.com/office/drawing/2014/main" id="{20980D01-BD84-4644-9CE3-6A713A51B047}"/>
              </a:ext>
            </a:extLst>
          </p:cNvPr>
          <p:cNvPicPr>
            <a:picLocks xmlns:a="http://schemas.openxmlformats.org/drawingml/2006/main" noChangeAspect="1"/>
          </p:cNvPicPr>
          <p:nvPr/>
        </p:nvPicPr>
        <p:blipFill>
          <a:blip xmlns:r="http://schemas.openxmlformats.org/officeDocument/2006/relationships" xmlns:a="http://schemas.openxmlformats.org/drawingml/2006/main" r:embed="R74c0e7fd2dd1498f"/>
          <a:stretch xmlns:a="http://schemas.openxmlformats.org/drawingml/2006/main"/>
        </p:blipFill>
        <p:spPr>
          <a:xfrm xmlns:a="http://schemas.openxmlformats.org/drawingml/2006/main">
            <a:off x="304800" y="76200"/>
            <a:ext cx="11582400" cy="1477464"/>
          </a:xfrm>
          <a:prstGeom xmlns:a="http://schemas.openxmlformats.org/drawingml/2006/main" prst="rect">
            <a:avLst/>
          </a:prstGeom>
        </p:spPr>
      </p:pic>
    </p:spTree>
    <p:extLst>
      <p:ext uri="{BB962C8B-B14F-4D97-AF65-F5344CB8AC3E}">
        <p14:creationId xmlns:p14="http://schemas.microsoft.com/office/powerpoint/2010/main" val="5508763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2026-10-12T05:10:02.3330000Z</dcterms:created>
  <dcterms:modified xsi:type="dcterms:W3CDTF">2026-10-12T05:10:02.3330000Z</dcterms:modified>
</coreProperties>
</file>